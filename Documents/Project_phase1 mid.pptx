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8"/>
  </p:notesMasterIdLst>
  <p:sldIdLst>
    <p:sldId id="258" r:id="rId2"/>
    <p:sldId id="334" r:id="rId3"/>
    <p:sldId id="335" r:id="rId4"/>
    <p:sldId id="340" r:id="rId5"/>
    <p:sldId id="336" r:id="rId6"/>
    <p:sldId id="350" r:id="rId7"/>
    <p:sldId id="351" r:id="rId8"/>
    <p:sldId id="352" r:id="rId9"/>
    <p:sldId id="353" r:id="rId10"/>
    <p:sldId id="355" r:id="rId11"/>
    <p:sldId id="354" r:id="rId12"/>
    <p:sldId id="356" r:id="rId13"/>
    <p:sldId id="348" r:id="rId14"/>
    <p:sldId id="313" r:id="rId15"/>
    <p:sldId id="349" r:id="rId16"/>
    <p:sldId id="31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27866-E2A1-4FEE-B3A0-4684E8E32300}" type="datetimeFigureOut">
              <a:rPr lang="en-IN" smtClean="0"/>
              <a:t>30-09-2026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9D209-6920-48E8-9E99-C345ED0B91F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07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290A3-CC82-42A3-9493-AD448FDAE8C6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9642D98A-1CF9-B2EA-03DC-085714D50C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39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8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131B9688-F3C5-BCED-0AE8-4FF170B7B7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5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4487-5772-4519-92E5-95945F7A4262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2D21BF30-5552-0CA1-7F91-66FD1A83D2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1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9D5F-CFCA-49B1-99ED-6A41409CC4C6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7E759B64-7B68-81FA-E2BA-E6B10D981D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2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0801-8A7A-4502-ACBE-1FBA99A44977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858FBAF4-F14B-7E0C-B093-D4961ED68F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EDEC8-7F93-42BD-B355-7335EE486EBE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F2D585C3-C5CA-D45F-545B-EEF3383F7A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1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C783-041F-4E67-90F3-122526AC43AD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C7E320DE-1E31-0CC1-9E16-6891A715BC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0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16FF-C6BE-4028-A08F-EF305206B2F0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E6E350A1-690D-6FF6-9AEE-88CD0F7A2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0009-041A-4B8D-A39A-CB894A26B908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B0F4E6C5-6983-0CB7-B977-ABE4DAB3B6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4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71545-228F-42CE-9D96-6A8A5BC7D304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C3AC931B-8F26-3B95-7533-D807274205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8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8C4E-D487-4836-88D3-B5D37397FDB2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8603A424-6C04-9BFE-6E69-8727683A14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8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BEA2A-61F6-4097-9FDE-FE2D398AA705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98A6D-CD5C-4802-925B-E5FD8D21958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63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12">
            <a:extLst>
              <a:ext uri="{FF2B5EF4-FFF2-40B4-BE49-F238E27FC236}">
                <a16:creationId xmlns:a16="http://schemas.microsoft.com/office/drawing/2014/main" id="{9663BE87-ACDA-42D9-9FFA-F6D293C54D20}"/>
              </a:ext>
            </a:extLst>
          </p:cNvPr>
          <p:cNvSpPr txBox="1">
            <a:spLocks/>
          </p:cNvSpPr>
          <p:nvPr/>
        </p:nvSpPr>
        <p:spPr>
          <a:xfrm>
            <a:off x="1143626" y="1655160"/>
            <a:ext cx="9767846" cy="447558"/>
          </a:xfrm>
          <a:prstGeom prst="rect">
            <a:avLst/>
          </a:prstGeom>
        </p:spPr>
        <p:txBody>
          <a:bodyPr vert="horz" wrap="square" lIns="0" tIns="16510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28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bject 13">
            <a:extLst>
              <a:ext uri="{FF2B5EF4-FFF2-40B4-BE49-F238E27FC236}">
                <a16:creationId xmlns:a16="http://schemas.microsoft.com/office/drawing/2014/main" id="{EF04BD33-7DC6-4157-97EA-6B6FAC7EF66F}"/>
              </a:ext>
            </a:extLst>
          </p:cNvPr>
          <p:cNvSpPr txBox="1"/>
          <p:nvPr/>
        </p:nvSpPr>
        <p:spPr>
          <a:xfrm>
            <a:off x="806579" y="2324564"/>
            <a:ext cx="10441940" cy="99065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45"/>
              </a:spcBef>
            </a:pPr>
            <a:r>
              <a:rPr lang="en-US" sz="3200" dirty="0">
                <a:solidFill>
                  <a:schemeClr val="accent1"/>
                </a:solidFill>
              </a:rPr>
              <a:t>Design of an Efficient FPGA-Oriented FFT Framework Employing Quartic Polynomial Estimation for RF Applications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48" name="object 15">
            <a:extLst>
              <a:ext uri="{FF2B5EF4-FFF2-40B4-BE49-F238E27FC236}">
                <a16:creationId xmlns:a16="http://schemas.microsoft.com/office/drawing/2014/main" id="{1B19C00C-03AD-4100-A48A-B1C904A7067A}"/>
              </a:ext>
            </a:extLst>
          </p:cNvPr>
          <p:cNvSpPr txBox="1"/>
          <p:nvPr/>
        </p:nvSpPr>
        <p:spPr>
          <a:xfrm>
            <a:off x="7366545" y="3537002"/>
            <a:ext cx="5815284" cy="17703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endParaRPr lang="en-IN" sz="2000" b="1" dirty="0">
              <a:latin typeface="Georgia"/>
              <a:cs typeface="Georgia"/>
            </a:endParaRPr>
          </a:p>
          <a:p>
            <a:pPr marL="12700" marR="887730">
              <a:lnSpc>
                <a:spcPct val="100200"/>
              </a:lnSpc>
            </a:pPr>
            <a:r>
              <a:rPr lang="en-US" sz="2000" b="1" dirty="0">
                <a:latin typeface="Georgia"/>
                <a:cs typeface="Georgia"/>
              </a:rPr>
              <a:t>Name of the Guide</a:t>
            </a:r>
            <a:r>
              <a:rPr lang="en-US" sz="2000" b="1" spc="-5" dirty="0">
                <a:latin typeface="Georgia"/>
                <a:cs typeface="Georgia"/>
              </a:rPr>
              <a:t>: </a:t>
            </a:r>
            <a:r>
              <a:rPr lang="en-US" sz="2000" spc="-5" dirty="0">
                <a:latin typeface="Georgia"/>
                <a:cs typeface="Georgia"/>
              </a:rPr>
              <a:t>Dr. Parul Mathur</a:t>
            </a:r>
          </a:p>
          <a:p>
            <a:pPr marL="12700" marR="887730">
              <a:lnSpc>
                <a:spcPct val="100200"/>
              </a:lnSpc>
            </a:pPr>
            <a:endParaRPr lang="en-IN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b="1" dirty="0">
                <a:latin typeface="Georgia"/>
              </a:rPr>
              <a:t>Name of the Evaluator: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>
                <a:latin typeface="Georgia"/>
                <a:cs typeface="Georgia"/>
              </a:rPr>
              <a:t>Dr. Ashish Goswami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>
                <a:latin typeface="Georgia"/>
                <a:cs typeface="Georgia"/>
              </a:rPr>
              <a:t>Mr. </a:t>
            </a:r>
            <a:r>
              <a:rPr lang="en-IN" dirty="0" err="1">
                <a:latin typeface="Georgia"/>
                <a:cs typeface="Georgia"/>
              </a:rPr>
              <a:t>Swaminadhan</a:t>
            </a:r>
            <a:r>
              <a:rPr lang="en-IN" dirty="0">
                <a:latin typeface="Georgia"/>
                <a:cs typeface="Georgia"/>
              </a:rPr>
              <a:t> Rajula</a:t>
            </a:r>
            <a:endParaRPr dirty="0">
              <a:latin typeface="Georgia"/>
              <a:cs typeface="Georgi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DB3E56-D34D-4C9E-BC45-229A6E18A067}"/>
              </a:ext>
            </a:extLst>
          </p:cNvPr>
          <p:cNvSpPr txBox="1"/>
          <p:nvPr/>
        </p:nvSpPr>
        <p:spPr>
          <a:xfrm>
            <a:off x="1244336" y="844736"/>
            <a:ext cx="959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23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ECE498 –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PROJECT PHASE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</a:t>
            </a: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93011EF8-F417-CDA6-ED89-EBA9504A2043}"/>
              </a:ext>
            </a:extLst>
          </p:cNvPr>
          <p:cNvSpPr txBox="1"/>
          <p:nvPr/>
        </p:nvSpPr>
        <p:spPr>
          <a:xfrm>
            <a:off x="806579" y="3429000"/>
            <a:ext cx="5815285" cy="2124299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endParaRPr lang="en-IN" sz="2000" b="1" dirty="0">
              <a:latin typeface="Georgia"/>
              <a:cs typeface="Georgia"/>
            </a:endParaRPr>
          </a:p>
          <a:p>
            <a:pPr>
              <a:spcBef>
                <a:spcPts val="994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B057</a:t>
            </a:r>
          </a:p>
          <a:p>
            <a:pPr marL="285750" indent="-285750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cs typeface="Times New Roman"/>
              </a:rPr>
              <a:t>Dheeraj Reddy B                        BL.EN.U4ECE23112</a:t>
            </a:r>
          </a:p>
          <a:p>
            <a:pPr marL="285750" indent="-285750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cs typeface="Times New Roman"/>
              </a:rPr>
              <a:t>Vaibhavi C R                              BL.EN.U4ECE23152</a:t>
            </a:r>
            <a:endParaRPr lang="en-IN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marL="12700" marR="887730">
              <a:lnSpc>
                <a:spcPct val="100200"/>
              </a:lnSpc>
            </a:pPr>
            <a:endParaRPr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28367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ABD0-D5CD-1D52-368C-F124B490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158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B93A-9085-2555-9A05-EB433272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11" y="1578721"/>
            <a:ext cx="10515600" cy="480218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800" dirty="0"/>
              <a:t>Modern RF systems require efficient processing and analysis of signals in the frequency domain. </a:t>
            </a:r>
          </a:p>
          <a:p>
            <a:pPr lvl="0"/>
            <a:r>
              <a:rPr lang="en-IN" sz="1800" dirty="0"/>
              <a:t>The Fast Fourier Transform (FFT) is widely used to convert signals from the time domain into the frequency domain. </a:t>
            </a:r>
          </a:p>
          <a:p>
            <a:pPr lvl="0"/>
            <a:r>
              <a:rPr lang="en-IN" sz="1800" dirty="0"/>
              <a:t>FFT significantly reduces the computational complexity compared with direct Discrete Fourier Transform (DFT) computation. </a:t>
            </a:r>
          </a:p>
          <a:p>
            <a:pPr lvl="0"/>
            <a:r>
              <a:rPr lang="en-IN" sz="1800" dirty="0"/>
              <a:t>Two-Dimensional FFT (2D FFT) extends frequency-domain analysis to two-dimensional data. </a:t>
            </a:r>
          </a:p>
          <a:p>
            <a:pPr lvl="0"/>
            <a:r>
              <a:rPr lang="en-IN" sz="1800" dirty="0"/>
              <a:t>FFT processing is useful in applications involving multidimensional signal analysis, imaging, beamforming, and spectral processing. </a:t>
            </a:r>
          </a:p>
          <a:p>
            <a:pPr lvl="0"/>
            <a:r>
              <a:rPr lang="en-IN" sz="1800" dirty="0"/>
              <a:t>FPGA platforms provide parallel processing capability, high throughput, and reconfigurability, making them suitable for real-time signal-processing applications. </a:t>
            </a:r>
          </a:p>
          <a:p>
            <a:pPr lvl="0"/>
            <a:r>
              <a:rPr lang="en-IN" sz="1800" dirty="0"/>
              <a:t>This project focuses on developing an FPGA-oriented 2D FFT framework integrated with Quartic Polynomial Estimation for RF applications.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4E36B-4DC7-45FB-13A5-5F2297B2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C9167-EC43-51AF-9633-6E186BD1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15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4591-B0BC-A00E-E075-BA591BBC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5002763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2FEBA-E19C-D357-E93D-A063860F1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376"/>
            <a:ext cx="10890380" cy="213055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lvl="0"/>
            <a:r>
              <a:rPr lang="en-IN" sz="1800" dirty="0"/>
              <a:t>RF applications require accurate and fast frequency analysis. </a:t>
            </a:r>
          </a:p>
          <a:p>
            <a:pPr lvl="0"/>
            <a:r>
              <a:rPr lang="en-IN" sz="1800" dirty="0"/>
              <a:t>Conventional implementations can have high computational complexity. </a:t>
            </a:r>
          </a:p>
          <a:p>
            <a:pPr lvl="0"/>
            <a:r>
              <a:rPr lang="en-IN" sz="1800" dirty="0"/>
              <a:t>Real-time processing requires low latency and high throughput. </a:t>
            </a:r>
          </a:p>
          <a:p>
            <a:pPr lvl="0"/>
            <a:r>
              <a:rPr lang="en-IN" sz="1800" dirty="0"/>
              <a:t>FPGA provides parallelism and efficient hardware implementation. </a:t>
            </a:r>
          </a:p>
          <a:p>
            <a:pPr lvl="0"/>
            <a:r>
              <a:rPr lang="en-IN" sz="1800" dirty="0"/>
              <a:t>Frequency estimation becomes challenging for signals containing multiple sinusoidal components. </a:t>
            </a:r>
          </a:p>
          <a:p>
            <a:pPr lvl="0"/>
            <a:r>
              <a:rPr lang="en-IN" sz="1800" dirty="0"/>
              <a:t>There is a need for an optimized framework that combines efficient FFT processing with Quartic Polynomial Estimation.</a:t>
            </a:r>
          </a:p>
          <a:p>
            <a:endParaRPr lang="en-IN" sz="1800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1452-43FD-91C0-E8B5-0E2EB403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FA9EF-2651-16EB-D869-DA7493B8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962A35-D56A-4A87-549A-3CDCC2DE7431}"/>
              </a:ext>
            </a:extLst>
          </p:cNvPr>
          <p:cNvSpPr txBox="1">
            <a:spLocks/>
          </p:cNvSpPr>
          <p:nvPr/>
        </p:nvSpPr>
        <p:spPr>
          <a:xfrm>
            <a:off x="843003" y="2645363"/>
            <a:ext cx="9316713" cy="101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693C5FB-1EA8-DE05-E6C1-8413FA09F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57" y="3731215"/>
            <a:ext cx="11045866" cy="3105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dirty="0"/>
              <a:t>RF signal analysis requires accurate and computationally efficient spectral processing. Implementing 2D FFT and frequency-estimation techniques on FPGA involves challenges such as:</a:t>
            </a:r>
          </a:p>
          <a:p>
            <a:pPr lvl="0"/>
            <a:r>
              <a:rPr lang="en-IN" sz="1800" dirty="0"/>
              <a:t>High computational complexity </a:t>
            </a:r>
          </a:p>
          <a:p>
            <a:pPr lvl="0"/>
            <a:r>
              <a:rPr lang="en-IN" sz="1800" dirty="0"/>
              <a:t>Hardware resource utilization </a:t>
            </a:r>
          </a:p>
          <a:p>
            <a:pPr lvl="0"/>
            <a:r>
              <a:rPr lang="en-IN" sz="1800" dirty="0"/>
              <a:t>Memory requirements Processing latency </a:t>
            </a:r>
          </a:p>
          <a:p>
            <a:pPr lvl="0"/>
            <a:r>
              <a:rPr lang="en-IN" sz="1800" dirty="0"/>
              <a:t>Timing constraints </a:t>
            </a:r>
          </a:p>
          <a:p>
            <a:r>
              <a:rPr lang="en-IN" sz="1800" dirty="0"/>
              <a:t>Therefore, an optimized and modular FPGA-oriented framework is required to perform efficient 2D FFT processing and accurate frequency estimation for RF signal analysis.</a:t>
            </a:r>
          </a:p>
          <a:p>
            <a:pPr marL="0" indent="0" algn="just">
              <a:buNone/>
            </a:pPr>
            <a:endParaRPr lang="en-IN" sz="18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209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7E06-8EC6-6CBD-22C0-53DC32D7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18" y="2126782"/>
            <a:ext cx="3780865" cy="112385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/>
                <a:cs typeface="Times New Roman"/>
              </a:rPr>
              <a:t>Sub-Objective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9A030-0221-51A4-6B1A-867311010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718" y="3011945"/>
            <a:ext cx="10213042" cy="25583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IN" sz="1800" dirty="0"/>
              <a:t>Study the mathematical principles of 2D FFT and QPE. </a:t>
            </a:r>
          </a:p>
          <a:p>
            <a:pPr lvl="0"/>
            <a:r>
              <a:rPr lang="en-IN" sz="1800" dirty="0"/>
              <a:t>Optimize the algorithm for FPGA implementation. </a:t>
            </a:r>
          </a:p>
          <a:p>
            <a:pPr lvl="0"/>
            <a:r>
              <a:rPr lang="en-IN" sz="1800" dirty="0"/>
              <a:t>Design modular FPGA-compatible functional blocks. </a:t>
            </a:r>
          </a:p>
          <a:p>
            <a:pPr lvl="0"/>
            <a:r>
              <a:rPr lang="en-IN" sz="1800" dirty="0"/>
              <a:t>Verify the algorithm using sinusoidal test signals. </a:t>
            </a:r>
          </a:p>
          <a:p>
            <a:pPr lvl="0"/>
            <a:r>
              <a:rPr lang="en-IN" sz="1800" dirty="0"/>
              <a:t>Perform fixed-point and timing analysis. </a:t>
            </a:r>
          </a:p>
          <a:p>
            <a:pPr lvl="0"/>
            <a:r>
              <a:rPr lang="en-IN" sz="1800" dirty="0"/>
              <a:t>Develop a scalable framework for future real-time RF applications.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7F326-E7AD-482A-BCFB-FC822299B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BF650-6C64-19D2-5C5B-D4AE2256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3308E62-40F8-2E2D-D071-0A211B309E18}"/>
              </a:ext>
            </a:extLst>
          </p:cNvPr>
          <p:cNvSpPr txBox="1">
            <a:spLocks/>
          </p:cNvSpPr>
          <p:nvPr/>
        </p:nvSpPr>
        <p:spPr>
          <a:xfrm>
            <a:off x="833718" y="170143"/>
            <a:ext cx="3780865" cy="112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Times New Roman"/>
                <a:cs typeface="Times New Roman"/>
              </a:rPr>
              <a:t>OBJECTIVE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197697-CE17-AFEE-7550-1A3C77CF5D44}"/>
              </a:ext>
            </a:extLst>
          </p:cNvPr>
          <p:cNvSpPr txBox="1">
            <a:spLocks/>
          </p:cNvSpPr>
          <p:nvPr/>
        </p:nvSpPr>
        <p:spPr>
          <a:xfrm>
            <a:off x="833718" y="1047936"/>
            <a:ext cx="10347512" cy="10320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1800" dirty="0"/>
              <a:t>To design and mathematically optimize a Quartic Polynomial Estimator-based Two-Dimensional Fast Fourier Transform algorithm for FPGA implementation, enabling efficient and accurate spectral analysis of RF signals and establishing the foundation for a high-performance VLSI architecture.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608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DB8D-19F8-0D27-2E23-384B23EB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B96A-6DE1-846D-E21A-4619136E5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9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dirty="0"/>
              <a:t>RF signal analysis requires accurate and computationally efficient spectral processing.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Implementing 2D FFT and frequency-estimation techniques on FPGA involves challenges such as:</a:t>
            </a:r>
          </a:p>
          <a:p>
            <a:pPr lvl="0"/>
            <a:r>
              <a:rPr lang="en-IN" sz="1800" dirty="0"/>
              <a:t>High computational complexity </a:t>
            </a:r>
          </a:p>
          <a:p>
            <a:pPr lvl="0"/>
            <a:r>
              <a:rPr lang="en-IN" sz="1800" dirty="0"/>
              <a:t>Hardware resource utilization </a:t>
            </a:r>
          </a:p>
          <a:p>
            <a:pPr lvl="0"/>
            <a:r>
              <a:rPr lang="en-IN" sz="1800" dirty="0"/>
              <a:t>Memory requirements </a:t>
            </a:r>
          </a:p>
          <a:p>
            <a:pPr lvl="0"/>
            <a:r>
              <a:rPr lang="en-IN" sz="1800" dirty="0"/>
              <a:t>Fixed-point precision </a:t>
            </a:r>
          </a:p>
          <a:p>
            <a:pPr lvl="0"/>
            <a:r>
              <a:rPr lang="en-IN" sz="1800" dirty="0"/>
              <a:t>Processing latency </a:t>
            </a:r>
          </a:p>
          <a:p>
            <a:pPr lvl="0"/>
            <a:r>
              <a:rPr lang="en-IN" sz="1800" dirty="0"/>
              <a:t>Timing constraints </a:t>
            </a:r>
          </a:p>
          <a:p>
            <a:pPr marL="0" indent="0">
              <a:buNone/>
            </a:pPr>
            <a:r>
              <a:rPr lang="en-IN" sz="1800" dirty="0"/>
              <a:t>Therefore, an optimized and modular FPGA-oriented framework is required to perform efficient 2D FFT processing and accurate frequency estimation for RF signal analysis.</a:t>
            </a:r>
          </a:p>
          <a:p>
            <a:pPr marL="0" indent="0">
              <a:buNone/>
            </a:pPr>
            <a:endParaRPr lang="en-IN" sz="1800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0244E-B775-DA1B-FCE2-1A6A1DCD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08B90-6E0B-B07A-FD66-9171D6A74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90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C6AD-F95C-9D0D-A103-44DC632C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E2FC-88EA-85EB-FE01-D45F206F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 and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34CE-39AB-BC09-F7F6-81E81534A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9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cs typeface="Times New Roman"/>
              </a:rPr>
              <a:t>Simulation of 2D FFT for IP Blocks</a:t>
            </a:r>
          </a:p>
          <a:p>
            <a:pPr marL="0" indent="0">
              <a:buNone/>
            </a:pPr>
            <a:r>
              <a:rPr lang="en-IN" sz="1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39101-D620-5B1E-BE2A-C6076BF2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05E88-1ACD-3957-70AD-45C6FBB8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6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4B929-B1D6-25F3-FC01-2C7B537C8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960"/>
            <a:ext cx="12192000" cy="4025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560974-7FB0-1788-CCAD-3706762D2BBC}"/>
              </a:ext>
            </a:extLst>
          </p:cNvPr>
          <p:cNvSpPr txBox="1"/>
          <p:nvPr/>
        </p:nvSpPr>
        <p:spPr>
          <a:xfrm>
            <a:off x="4556091" y="6171684"/>
            <a:ext cx="307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Freq:10KHz Amp:0.4 Offset:0.5</a:t>
            </a:r>
          </a:p>
        </p:txBody>
      </p:sp>
    </p:spTree>
    <p:extLst>
      <p:ext uri="{BB962C8B-B14F-4D97-AF65-F5344CB8AC3E}">
        <p14:creationId xmlns:p14="http://schemas.microsoft.com/office/powerpoint/2010/main" val="24771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2066-55E5-4B3E-ABC3-85814EAD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0168-B990-FBB2-A009-712D52C0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 and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F9F8-5031-0D1B-23DD-13C43C5D9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9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cs typeface="Times New Roman"/>
              </a:rPr>
              <a:t>Simulation of 2D FFT for IP Blocks</a:t>
            </a:r>
          </a:p>
          <a:p>
            <a:pPr marL="0" indent="0">
              <a:buNone/>
            </a:pPr>
            <a:r>
              <a:rPr lang="en-IN" sz="1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2E8AA-ACEF-AD56-2E6E-4022B85D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4AA6D-DFD0-ADEB-90EA-BC5DF3F4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7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AC06D-4552-B112-31EA-15F34A06BAD9}"/>
              </a:ext>
            </a:extLst>
          </p:cNvPr>
          <p:cNvSpPr txBox="1"/>
          <p:nvPr/>
        </p:nvSpPr>
        <p:spPr>
          <a:xfrm>
            <a:off x="4556091" y="5911168"/>
            <a:ext cx="307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Freq:20KHz Amp:0.4 Offset:0.5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F7E290-9277-3C8F-D655-035A3B896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2" y="2084609"/>
            <a:ext cx="11776668" cy="3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9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A31C9-3C49-45CD-7BA2-624376B3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A7D5-FA51-3972-69D9-A60838BC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 and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78FA7-7EF4-7A3A-5BB6-828CAEAE3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9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cs typeface="Times New Roman"/>
              </a:rPr>
              <a:t>Simulation for Input frequency and testbench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CC8A3-68AB-CB3F-6128-22283DF7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FF30B-52FC-3889-E24D-81D05288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8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9E2A49-9C0E-7DA9-93C7-BBE732B5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68" y="1803948"/>
            <a:ext cx="8755464" cy="49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2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0C261-997B-1629-5BAB-51B978ABD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C0D-7502-7B49-E308-77240FBD9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971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 and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B91D-319B-A99C-2A36-08B28D91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069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cs typeface="Times New Roman"/>
              </a:rPr>
              <a:t>Simulation of 2D FFT with Two Targets for IP Blocks</a:t>
            </a:r>
          </a:p>
          <a:p>
            <a:pPr marL="0" indent="0">
              <a:buNone/>
            </a:pPr>
            <a:r>
              <a:rPr lang="en-IN" sz="1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07C7D-5078-D2E2-97DD-3C8CF5EC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771C4-FF8E-C77B-4B87-2BCDD235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9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F088A-19D0-F061-BC73-CEE24B29CCC4}"/>
              </a:ext>
            </a:extLst>
          </p:cNvPr>
          <p:cNvSpPr txBox="1"/>
          <p:nvPr/>
        </p:nvSpPr>
        <p:spPr>
          <a:xfrm>
            <a:off x="4556091" y="5911168"/>
            <a:ext cx="307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Freq:20KHz Amp:0.4 Offset:0.5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3C3B0-727E-10A2-8548-7680020AA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94" y="1053361"/>
            <a:ext cx="7138403" cy="54855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DBFD91-B2A4-839F-658D-BA9128335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685" y="2126256"/>
            <a:ext cx="4460315" cy="364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37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0445-0A9E-6A72-5349-43CEB6CB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6F3F-F5C3-8EDE-842F-5E22B7B6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971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 and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826C-112B-67CC-7C23-20EE9B005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069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cs typeface="Times New Roman"/>
              </a:rPr>
              <a:t>Simulation of 2D FFT and Quartic Polynomial Estimation </a:t>
            </a:r>
            <a:r>
              <a:rPr lang="en-IN" sz="1800" dirty="0" err="1">
                <a:latin typeface="Times New Roman"/>
                <a:cs typeface="Times New Roman"/>
              </a:rPr>
              <a:t>Alogirthm</a:t>
            </a:r>
            <a:r>
              <a:rPr lang="en-IN" sz="1800" dirty="0">
                <a:latin typeface="Times New Roman"/>
                <a:cs typeface="Times New Roman"/>
              </a:rPr>
              <a:t> with Two Targets for IP Blocks</a:t>
            </a:r>
          </a:p>
          <a:p>
            <a:pPr marL="0" indent="0">
              <a:buNone/>
            </a:pPr>
            <a:r>
              <a:rPr lang="en-IN" sz="1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65607-D46E-2FC9-594E-0406B502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097A1-1D4B-4067-A928-AFC0FD83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10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46A40-856D-FA66-28C9-8C46EB98897E}"/>
              </a:ext>
            </a:extLst>
          </p:cNvPr>
          <p:cNvSpPr txBox="1"/>
          <p:nvPr/>
        </p:nvSpPr>
        <p:spPr>
          <a:xfrm>
            <a:off x="4556091" y="5911168"/>
            <a:ext cx="307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Freq:20KHz Amp:0.4 Offset:0.5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ED8D4C-762F-1786-45ED-04225FBD2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949" y="1128417"/>
            <a:ext cx="7918100" cy="56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94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628ED-E1DC-8101-0DE8-7E76E7EA0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CFAC-987B-C541-4F30-3C2B5A42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971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 and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D77B1-BC7C-010E-D538-26F3D8C46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069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cs typeface="Times New Roman"/>
              </a:rPr>
              <a:t>Simulation of Quartic Polynomial Estimator vs 2D FFT:</a:t>
            </a:r>
          </a:p>
          <a:p>
            <a:pPr marL="0" indent="0">
              <a:buNone/>
            </a:pPr>
            <a:r>
              <a:rPr lang="en-IN" sz="1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05C41-33B7-978E-72D5-A1B4E840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145ED-D74C-1BD7-753A-A8E49323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1BA50B-284E-DEAD-EB5E-919AE0C2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5" y="1426866"/>
            <a:ext cx="11822169" cy="41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8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459A-A38D-B462-53B8-C1D64014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088D-BF46-350F-63A0-D06D567DB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971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 and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125C6-0CC9-663B-FB5A-7C72204C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069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cs typeface="Times New Roman"/>
              </a:rPr>
              <a:t>Simulation of Quartic Polynomial Estimator vs 2D FFT:</a:t>
            </a:r>
          </a:p>
          <a:p>
            <a:pPr marL="0" indent="0">
              <a:buNone/>
            </a:pPr>
            <a:r>
              <a:rPr lang="en-IN" sz="1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6C3CA-F1CC-AB8F-A5BD-D74943F0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1FF14-8430-C501-C2D8-937E91B2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12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69509C-5A36-749A-E968-327448E7C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798" y="1219303"/>
            <a:ext cx="7674403" cy="53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6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5F26-1E58-323F-5B4E-D0DEEA74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BB80-7E72-CBCD-F45D-73B9096A4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2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 Blocks: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249B-3F25-AAA3-069F-D806247D4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867"/>
            <a:ext cx="10515600" cy="225400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0"/>
            <a:r>
              <a:rPr lang="en-IN" sz="1800" dirty="0"/>
              <a:t>Input Interface </a:t>
            </a:r>
          </a:p>
          <a:p>
            <a:pPr lvl="0"/>
            <a:r>
              <a:rPr lang="en-IN" sz="1800" dirty="0"/>
              <a:t>FFT Processing Unit </a:t>
            </a:r>
          </a:p>
          <a:p>
            <a:pPr lvl="0"/>
            <a:r>
              <a:rPr lang="en-IN" sz="1800" dirty="0"/>
              <a:t>Arithmetic Units </a:t>
            </a:r>
          </a:p>
          <a:p>
            <a:pPr lvl="0"/>
            <a:r>
              <a:rPr lang="en-IN" sz="1800" dirty="0"/>
              <a:t>Memory Buffers </a:t>
            </a:r>
          </a:p>
          <a:p>
            <a:pPr lvl="0"/>
            <a:r>
              <a:rPr lang="en-IN" sz="1800" dirty="0"/>
              <a:t>QPE Processing Unit </a:t>
            </a:r>
          </a:p>
          <a:p>
            <a:pPr lvl="0"/>
            <a:r>
              <a:rPr lang="en-IN" sz="1800" dirty="0"/>
              <a:t>Control Logic </a:t>
            </a:r>
          </a:p>
          <a:p>
            <a:pPr lvl="0"/>
            <a:r>
              <a:rPr lang="en-IN" sz="1800" dirty="0"/>
              <a:t>Output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9989-3C97-1588-437F-DF2E721B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1CFD5-89C8-7FBE-F7A2-69758909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13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CE0DB5-8E08-AFEE-4C85-7767971B0EB3}"/>
              </a:ext>
            </a:extLst>
          </p:cNvPr>
          <p:cNvSpPr txBox="1">
            <a:spLocks/>
          </p:cNvSpPr>
          <p:nvPr/>
        </p:nvSpPr>
        <p:spPr>
          <a:xfrm>
            <a:off x="838200" y="32481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/>
              <a:t>Methodology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BE71B1-A6DE-8372-24D1-2F1490C753F7}"/>
              </a:ext>
            </a:extLst>
          </p:cNvPr>
          <p:cNvSpPr txBox="1">
            <a:spLocks/>
          </p:cNvSpPr>
          <p:nvPr/>
        </p:nvSpPr>
        <p:spPr>
          <a:xfrm>
            <a:off x="838200" y="4238869"/>
            <a:ext cx="10515600" cy="22540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1800" dirty="0"/>
              <a:t>Study 2D FFT and QPE algorithms. </a:t>
            </a:r>
          </a:p>
          <a:p>
            <a:pPr lvl="0"/>
            <a:r>
              <a:rPr lang="en-IN" sz="1800" dirty="0"/>
              <a:t>Mathematically analyse and optimize the algorithms. </a:t>
            </a:r>
          </a:p>
          <a:p>
            <a:pPr lvl="0"/>
            <a:r>
              <a:rPr lang="en-IN" sz="1800" dirty="0"/>
              <a:t>Perform fixed-point analysis. </a:t>
            </a:r>
          </a:p>
          <a:p>
            <a:pPr lvl="0"/>
            <a:r>
              <a:rPr lang="en-IN" sz="1800" dirty="0"/>
              <a:t>Design modular FPGA-compatible architecture. </a:t>
            </a:r>
          </a:p>
          <a:p>
            <a:pPr lvl="0"/>
            <a:r>
              <a:rPr lang="en-IN" sz="1800" dirty="0"/>
              <a:t>Simulate using sinusoidal test signals. </a:t>
            </a:r>
          </a:p>
          <a:p>
            <a:pPr lvl="0"/>
            <a:r>
              <a:rPr lang="en-IN" sz="1800" dirty="0"/>
              <a:t>Verify accuracy and spectral output. </a:t>
            </a:r>
          </a:p>
          <a:p>
            <a:pPr lvl="0"/>
            <a:r>
              <a:rPr lang="en-IN" sz="1800" dirty="0"/>
              <a:t>Prepare the design for FPGA implementation.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5452F-5B2A-A356-EE8A-FFF9686E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499" y="809706"/>
            <a:ext cx="2743200" cy="591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6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9DC5-725B-48E5-6A87-4101BC53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IN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019BD-061D-A084-B497-8504D05B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14</a:t>
            </a:fld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32E915F-76ED-68D2-7825-547CFE46C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79040"/>
              </p:ext>
            </p:extLst>
          </p:nvPr>
        </p:nvGraphicFramePr>
        <p:xfrm>
          <a:off x="838200" y="1632960"/>
          <a:ext cx="10515600" cy="3903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6547">
                  <a:extLst>
                    <a:ext uri="{9D8B030D-6E8A-4147-A177-3AD203B41FA5}">
                      <a16:colId xmlns:a16="http://schemas.microsoft.com/office/drawing/2014/main" val="1216341171"/>
                    </a:ext>
                  </a:extLst>
                </a:gridCol>
                <a:gridCol w="8289053">
                  <a:extLst>
                    <a:ext uri="{9D8B030D-6E8A-4147-A177-3AD203B41FA5}">
                      <a16:colId xmlns:a16="http://schemas.microsoft.com/office/drawing/2014/main" val="1299946204"/>
                    </a:ext>
                  </a:extLst>
                </a:gridCol>
              </a:tblGrid>
              <a:tr h="65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Planned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95311"/>
                  </a:ext>
                </a:extLst>
              </a:tr>
              <a:tr h="65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July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survey, study of 2D FFT and QPE, mathematical formulation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997907"/>
                  </a:ext>
                </a:extLst>
              </a:tr>
              <a:tr h="65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August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 optimization, fixed-point analysis, architecture design, initial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348369"/>
                  </a:ext>
                </a:extLst>
              </a:tr>
              <a:tr h="65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September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and verification of FPGA processing blocks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01748"/>
                  </a:ext>
                </a:extLst>
              </a:tr>
              <a:tr h="65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October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 of IP blocks and system-level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006313"/>
                  </a:ext>
                </a:extLst>
              </a:tr>
              <a:tr h="65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November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Hardware validation, performance analysis, GUI development,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475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656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2EB80-CDB1-6395-06E2-D1E0F4237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AF61-0084-9777-A243-BB983D3AC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Far…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6FD412-C737-80C5-E4D9-60A9B775E6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3981"/>
                <a:ext cx="10515600" cy="435133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lvl="0"/>
                <a:r>
                  <a:rPr lang="en-IN" sz="1800" dirty="0"/>
                  <a:t>Bit-True Fixed-Point Model: Replaced floating-point operations with Q24 fixed-point arithmetic and implemented custom </a:t>
                </a:r>
                <a:r>
                  <a:rPr lang="en-IN" sz="1800" dirty="0" err="1"/>
                  <a:t>q_mul</a:t>
                </a:r>
                <a:r>
                  <a:rPr lang="en-IN" sz="1800" dirty="0"/>
                  <a:t> and </a:t>
                </a:r>
                <a:r>
                  <a:rPr lang="en-IN" sz="1800" dirty="0" err="1"/>
                  <a:t>q_div</a:t>
                </a:r>
                <a:r>
                  <a:rPr lang="en-IN" sz="1800" dirty="0"/>
                  <a:t> operations to replicate hardware </a:t>
                </a:r>
                <a:r>
                  <a:rPr lang="en-IN" sz="1800" dirty="0" err="1"/>
                  <a:t>behavior</a:t>
                </a:r>
                <a:r>
                  <a:rPr lang="en-IN" sz="1800" dirty="0"/>
                  <a:t>. </a:t>
                </a:r>
              </a:p>
              <a:p>
                <a:pPr lvl="0"/>
                <a:r>
                  <a:rPr lang="en-IN" sz="1800" dirty="0"/>
                  <a:t>Hardware-Friendly Trigonometry: Implemented 24-iteration CORDIC algorithms for sin, cos, and atan2, replacing computationally expensive trigonometric functions with shift-and-add operations. </a:t>
                </a:r>
              </a:p>
              <a:p>
                <a:pPr lvl="0"/>
                <a:r>
                  <a:rPr lang="en-IN" sz="1800" dirty="0"/>
                  <a:t>Macleod Quartic Engine: Developed the 4th-order polynomial generation using the peak FFT bin and its adjacent bins, including complex-ratio calculation and generation of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1800" b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1800" b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800" b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/>
                  <a:t>. </a:t>
                </a:r>
              </a:p>
              <a:p>
                <a:pPr lvl="0"/>
                <a:r>
                  <a:rPr lang="en-IN" sz="1800" dirty="0"/>
                  <a:t>Newton-Raphson Hardware Solver: Implemented a 3-iteration Newton-Raphson solver using Horner's method for efficient quartic polynomial root estimation. </a:t>
                </a:r>
              </a:p>
              <a:p>
                <a:pPr lvl="0"/>
                <a:r>
                  <a:rPr lang="en-IN" sz="1800" dirty="0"/>
                  <a:t>Noise Robustness: Added a parabolic initial seed and a dynamic Newton Clamp to prevent unstable frequency estimates under high-noise conditions. </a:t>
                </a:r>
              </a:p>
              <a:p>
                <a:pPr lvl="0"/>
                <a:r>
                  <a:rPr lang="en-IN" sz="1800" dirty="0"/>
                  <a:t>Verification &amp; Debugging: Developed a bit-true C reference model and compared it cycle-by-cycle with Verilog RTL. Identified and corrected a frequency scaling error, achieving bit-true verification.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6FD412-C737-80C5-E4D9-60A9B775E6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3981"/>
                <a:ext cx="10515600" cy="4351338"/>
              </a:xfrm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5D6DC-1C54-9D92-3D64-90BAD55C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30-09-2026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AF4B0-5669-17A5-0652-EC663718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57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E967-E666-6627-C3BA-860A8F3F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22F16-1800-BF5C-68C8-6F79A83B1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454912"/>
            <a:ext cx="11042276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600" dirty="0"/>
              <a:t>G. Narayanan and D. G. Kurup, “A Quartic Polynomial Based Approach for Multi-Sinusoidal Frequency Estimation,” </a:t>
            </a:r>
            <a:r>
              <a:rPr lang="en-IN" sz="1600" i="1" dirty="0"/>
              <a:t>International Journal of Electrical and Electronic Engineering &amp; Telecommunications</a:t>
            </a:r>
            <a:r>
              <a:rPr lang="en-IN" sz="1600" dirty="0"/>
              <a:t>, 2024. </a:t>
            </a:r>
          </a:p>
          <a:p>
            <a:pPr lvl="0"/>
            <a:r>
              <a:rPr lang="en-IN" sz="1600" dirty="0"/>
              <a:t>R. </a:t>
            </a:r>
            <a:r>
              <a:rPr lang="en-IN" sz="1600" dirty="0" err="1"/>
              <a:t>Palisetty</a:t>
            </a:r>
            <a:r>
              <a:rPr lang="en-IN" sz="1600" dirty="0"/>
              <a:t> et al., “FPGA Implementation of Efficient 2D-FFT Beamforming for On-Board Processing in Satellites,” </a:t>
            </a:r>
            <a:r>
              <a:rPr lang="en-IN" sz="1600" i="1" dirty="0"/>
              <a:t>IEEE VTC-Fall</a:t>
            </a:r>
            <a:r>
              <a:rPr lang="en-IN" sz="1600" dirty="0"/>
              <a:t>, 2023. </a:t>
            </a:r>
          </a:p>
          <a:p>
            <a:pPr lvl="0"/>
            <a:r>
              <a:rPr lang="en-IN" sz="1600" dirty="0"/>
              <a:t>H.-Y. Chin, P.-Y. Tsai, and S.-Y. Lee, “Implementation of a Two-Dimensional FFT/IFFT Processor for Real-Time High-Resolution Synthetic Aperture Radar Imaging,” </a:t>
            </a:r>
            <a:r>
              <a:rPr lang="en-IN" sz="1600" i="1" dirty="0"/>
              <a:t>IEEE </a:t>
            </a:r>
            <a:r>
              <a:rPr lang="en-IN" sz="1600" i="1" dirty="0" err="1"/>
              <a:t>SiPS</a:t>
            </a:r>
            <a:r>
              <a:rPr lang="en-IN" sz="1600" dirty="0"/>
              <a:t>, 2021. </a:t>
            </a:r>
          </a:p>
          <a:p>
            <a:pPr lvl="0"/>
            <a:r>
              <a:rPr lang="en-IN" sz="1600" dirty="0"/>
              <a:t>J. S. Kim et al., “FPGA Architecture for 2D Discrete Fourier Transform Based on 2D Decomposition for Large-Sized Data,” </a:t>
            </a:r>
            <a:r>
              <a:rPr lang="en-IN" sz="1600" i="1" dirty="0"/>
              <a:t>IEEE </a:t>
            </a:r>
            <a:r>
              <a:rPr lang="en-IN" sz="1600" i="1" dirty="0" err="1"/>
              <a:t>SiPS</a:t>
            </a:r>
            <a:r>
              <a:rPr lang="en-IN" sz="1600" dirty="0"/>
              <a:t>, 2009.</a:t>
            </a:r>
          </a:p>
          <a:p>
            <a:pPr marL="0" indent="0" algn="just">
              <a:buNone/>
            </a:pPr>
            <a:endParaRPr lang="en-IN" sz="16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10102-1AE7-774C-CFA7-7659BAB5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26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6008</TotalTime>
  <Words>1044</Words>
  <Application>Microsoft Office PowerPoint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Georgia</vt:lpstr>
      <vt:lpstr>Times New Roman</vt:lpstr>
      <vt:lpstr>Office Theme</vt:lpstr>
      <vt:lpstr>PowerPoint Presentation</vt:lpstr>
      <vt:lpstr>INTRODUCTION</vt:lpstr>
      <vt:lpstr>MOTIVATION</vt:lpstr>
      <vt:lpstr>Sub-Objective</vt:lpstr>
      <vt:lpstr>Problem Statement</vt:lpstr>
      <vt:lpstr>Partial Results and Analysis</vt:lpstr>
      <vt:lpstr>Partial Results and Analysis</vt:lpstr>
      <vt:lpstr>Partial Results and Analysis</vt:lpstr>
      <vt:lpstr>Partial Results and Analysis</vt:lpstr>
      <vt:lpstr>Partial Results and Analysis</vt:lpstr>
      <vt:lpstr>Partial Results and Analysis</vt:lpstr>
      <vt:lpstr>Partial Results and Analysis</vt:lpstr>
      <vt:lpstr>Proposed Architecture Blocks:</vt:lpstr>
      <vt:lpstr>TIMELINE</vt:lpstr>
      <vt:lpstr>Work Done So Far…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SURVEY</dc:title>
  <dc:creator>Venkata Sai Vivek Potnuru</dc:creator>
  <cp:lastModifiedBy>Dheeraj Reddy.B-[BL.EN.U4ECE23112]</cp:lastModifiedBy>
  <cp:revision>437</cp:revision>
  <dcterms:created xsi:type="dcterms:W3CDTF">2021-11-03T05:08:25Z</dcterms:created>
  <dcterms:modified xsi:type="dcterms:W3CDTF">2026-09-30T18:05:57Z</dcterms:modified>
</cp:coreProperties>
</file>