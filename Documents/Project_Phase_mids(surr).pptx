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1" r:id="rId4"/>
  </p:sldMasterIdLst>
  <p:notesMasterIdLst>
    <p:notesMasterId r:id="rId22"/>
  </p:notesMasterIdLst>
  <p:sldIdLst>
    <p:sldId id="258" r:id="rId5"/>
    <p:sldId id="347" r:id="rId6"/>
    <p:sldId id="274" r:id="rId7"/>
    <p:sldId id="298" r:id="rId8"/>
    <p:sldId id="309" r:id="rId9"/>
    <p:sldId id="348" r:id="rId10"/>
    <p:sldId id="353" r:id="rId11"/>
    <p:sldId id="354" r:id="rId12"/>
    <p:sldId id="355" r:id="rId13"/>
    <p:sldId id="356" r:id="rId14"/>
    <p:sldId id="352" r:id="rId15"/>
    <p:sldId id="351" r:id="rId16"/>
    <p:sldId id="349" r:id="rId17"/>
    <p:sldId id="350" r:id="rId18"/>
    <p:sldId id="345" r:id="rId19"/>
    <p:sldId id="313" r:id="rId20"/>
    <p:sldId id="311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70E0FF-0E5F-E368-FC1D-05C7BAF351C7}" v="7" dt="2026-09-28T04:40:51.7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827866-E2A1-4FEE-B3A0-4684E8E32300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B9D209-6920-48E8-9E99-C345ED0B91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30758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290A3-CC82-42A3-9493-AD448FDAE8C6}" type="datetime1">
              <a:rPr lang="en-IN" smtClean="0"/>
              <a:t>27-09-2026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98A6D-CD5C-4802-925B-E5FD8D219589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 descr="A picture containing logo&#10;&#10;Description automatically generated">
            <a:extLst>
              <a:ext uri="{FF2B5EF4-FFF2-40B4-BE49-F238E27FC236}">
                <a16:creationId xmlns:a16="http://schemas.microsoft.com/office/drawing/2014/main" id="{9642D98A-1CF9-B2EA-03DC-085714D50C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3395" y="23813"/>
            <a:ext cx="2612246" cy="642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387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3D928-BDD7-4354-9A29-8AD08345FC2F}" type="datetime1">
              <a:rPr lang="en-IN" smtClean="0"/>
              <a:t>27-09-2026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98A6D-CD5C-4802-925B-E5FD8D219589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 descr="A picture containing logo&#10;&#10;Description automatically generated">
            <a:extLst>
              <a:ext uri="{FF2B5EF4-FFF2-40B4-BE49-F238E27FC236}">
                <a16:creationId xmlns:a16="http://schemas.microsoft.com/office/drawing/2014/main" id="{131B9688-F3C5-BCED-0AE8-4FF170B7B77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3555" y="23813"/>
            <a:ext cx="2612246" cy="642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553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B4487-5772-4519-92E5-95945F7A4262}" type="datetime1">
              <a:rPr lang="en-IN" smtClean="0"/>
              <a:t>27-09-2026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98A6D-CD5C-4802-925B-E5FD8D219589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 descr="A picture containing logo&#10;&#10;Description automatically generated">
            <a:extLst>
              <a:ext uri="{FF2B5EF4-FFF2-40B4-BE49-F238E27FC236}">
                <a16:creationId xmlns:a16="http://schemas.microsoft.com/office/drawing/2014/main" id="{2D21BF30-5552-0CA1-7F91-66FD1A83D2E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3555" y="23813"/>
            <a:ext cx="2612246" cy="642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113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39D5F-CFCA-49B1-99ED-6A41409CC4C6}" type="datetime1">
              <a:rPr lang="en-IN" smtClean="0"/>
              <a:t>27-09-2026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98A6D-CD5C-4802-925B-E5FD8D219589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 descr="A picture containing logo&#10;&#10;Description automatically generated">
            <a:extLst>
              <a:ext uri="{FF2B5EF4-FFF2-40B4-BE49-F238E27FC236}">
                <a16:creationId xmlns:a16="http://schemas.microsoft.com/office/drawing/2014/main" id="{7E759B64-7B68-81FA-E2BA-E6B10D981D9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3555" y="23813"/>
            <a:ext cx="2612246" cy="642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127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A0801-8A7A-4502-ACBE-1FBA99A44977}" type="datetime1">
              <a:rPr lang="en-IN" smtClean="0"/>
              <a:t>27-09-2026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98A6D-CD5C-4802-925B-E5FD8D219589}" type="slidenum">
              <a:rPr lang="en-IN" smtClean="0"/>
              <a:t>‹#›</a:t>
            </a:fld>
            <a:endParaRPr lang="en-IN"/>
          </a:p>
        </p:txBody>
      </p:sp>
      <p:pic>
        <p:nvPicPr>
          <p:cNvPr id="10" name="Picture 9" descr="A picture containing logo&#10;&#10;Description automatically generated">
            <a:extLst>
              <a:ext uri="{FF2B5EF4-FFF2-40B4-BE49-F238E27FC236}">
                <a16:creationId xmlns:a16="http://schemas.microsoft.com/office/drawing/2014/main" id="{858FBAF4-F14B-7E0C-B093-D4961ED68F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3555" y="23813"/>
            <a:ext cx="2612246" cy="642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38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EDEC8-7F93-42BD-B355-7335EE486EBE}" type="datetime1">
              <a:rPr lang="en-IN" smtClean="0"/>
              <a:t>27-09-2026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98A6D-CD5C-4802-925B-E5FD8D219589}" type="slidenum">
              <a:rPr lang="en-IN" smtClean="0"/>
              <a:t>‹#›</a:t>
            </a:fld>
            <a:endParaRPr lang="en-IN"/>
          </a:p>
        </p:txBody>
      </p:sp>
      <p:pic>
        <p:nvPicPr>
          <p:cNvPr id="6" name="Picture 5" descr="A picture containing logo&#10;&#10;Description automatically generated">
            <a:extLst>
              <a:ext uri="{FF2B5EF4-FFF2-40B4-BE49-F238E27FC236}">
                <a16:creationId xmlns:a16="http://schemas.microsoft.com/office/drawing/2014/main" id="{F2D585C3-C5CA-D45F-545B-EEF3383F7A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3555" y="23813"/>
            <a:ext cx="2612246" cy="642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816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1C783-041F-4E67-90F3-122526AC43AD}" type="datetime1">
              <a:rPr lang="en-IN" smtClean="0"/>
              <a:t>27-09-2026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98A6D-CD5C-4802-925B-E5FD8D219589}" type="slidenum">
              <a:rPr lang="en-IN" smtClean="0"/>
              <a:t>‹#›</a:t>
            </a:fld>
            <a:endParaRPr lang="en-IN"/>
          </a:p>
        </p:txBody>
      </p:sp>
      <p:pic>
        <p:nvPicPr>
          <p:cNvPr id="5" name="Picture 4" descr="A picture containing logo&#10;&#10;Description automatically generated">
            <a:extLst>
              <a:ext uri="{FF2B5EF4-FFF2-40B4-BE49-F238E27FC236}">
                <a16:creationId xmlns:a16="http://schemas.microsoft.com/office/drawing/2014/main" id="{C7E320DE-1E31-0CC1-9E16-6891A715BC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3555" y="23813"/>
            <a:ext cx="2612246" cy="642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104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916FF-C6BE-4028-A08F-EF305206B2F0}" type="datetime1">
              <a:rPr lang="en-IN" smtClean="0"/>
              <a:t>27-09-2026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98A6D-CD5C-4802-925B-E5FD8D219589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 descr="A picture containing logo&#10;&#10;Description automatically generated">
            <a:extLst>
              <a:ext uri="{FF2B5EF4-FFF2-40B4-BE49-F238E27FC236}">
                <a16:creationId xmlns:a16="http://schemas.microsoft.com/office/drawing/2014/main" id="{E6E350A1-690D-6FF6-9AEE-88CD0F7A27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3555" y="23813"/>
            <a:ext cx="2612246" cy="642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016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E0009-041A-4B8D-A39A-CB894A26B908}" type="datetime1">
              <a:rPr lang="en-IN" smtClean="0"/>
              <a:t>27-09-2026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98A6D-CD5C-4802-925B-E5FD8D219589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 descr="A picture containing logo&#10;&#10;Description automatically generated">
            <a:extLst>
              <a:ext uri="{FF2B5EF4-FFF2-40B4-BE49-F238E27FC236}">
                <a16:creationId xmlns:a16="http://schemas.microsoft.com/office/drawing/2014/main" id="{B0F4E6C5-6983-0CB7-B977-ABE4DAB3B69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3555" y="23813"/>
            <a:ext cx="2612246" cy="642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545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71545-228F-42CE-9D96-6A8A5BC7D304}" type="datetime1">
              <a:rPr lang="en-IN" smtClean="0"/>
              <a:t>27-09-2026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98A6D-CD5C-4802-925B-E5FD8D219589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 descr="A picture containing logo&#10;&#10;Description automatically generated">
            <a:extLst>
              <a:ext uri="{FF2B5EF4-FFF2-40B4-BE49-F238E27FC236}">
                <a16:creationId xmlns:a16="http://schemas.microsoft.com/office/drawing/2014/main" id="{C3AC931B-8F26-3B95-7533-D807274205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3555" y="23813"/>
            <a:ext cx="2612246" cy="642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587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C8C4E-D487-4836-88D3-B5D37397FDB2}" type="datetime1">
              <a:rPr lang="en-IN" smtClean="0"/>
              <a:t>27-09-2026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98A6D-CD5C-4802-925B-E5FD8D219589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 descr="A picture containing logo&#10;&#10;Description automatically generated">
            <a:extLst>
              <a:ext uri="{FF2B5EF4-FFF2-40B4-BE49-F238E27FC236}">
                <a16:creationId xmlns:a16="http://schemas.microsoft.com/office/drawing/2014/main" id="{8603A424-6C04-9BFE-6E69-8727683A14F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3555" y="23813"/>
            <a:ext cx="2612246" cy="642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4854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9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2" name="Picture 1" descr="A picture containing logo&#10;&#10;Description automatically generated">
            <a:extLst>
              <a:ext uri="{FF2B5EF4-FFF2-40B4-BE49-F238E27FC236}">
                <a16:creationId xmlns:a16="http://schemas.microsoft.com/office/drawing/2014/main" id="{0C5100EB-EC03-19A8-A812-31C2FEEE9F1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3555" y="23813"/>
            <a:ext cx="2612246" cy="642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717260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0BEA2A-61F6-4097-9FDE-FE2D398AA705}" type="datetime1">
              <a:rPr lang="en-IN" smtClean="0"/>
              <a:t>27-09-2026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898A6D-CD5C-4802-925B-E5FD8D2195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2639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object 13">
            <a:extLst>
              <a:ext uri="{FF2B5EF4-FFF2-40B4-BE49-F238E27FC236}">
                <a16:creationId xmlns:a16="http://schemas.microsoft.com/office/drawing/2014/main" id="{EF04BD33-7DC6-4157-97EA-6B6FAC7EF66F}"/>
              </a:ext>
            </a:extLst>
          </p:cNvPr>
          <p:cNvSpPr txBox="1"/>
          <p:nvPr/>
        </p:nvSpPr>
        <p:spPr>
          <a:xfrm>
            <a:off x="1009012" y="1818976"/>
            <a:ext cx="10441940" cy="990592"/>
          </a:xfrm>
          <a:prstGeom prst="rect">
            <a:avLst/>
          </a:prstGeom>
        </p:spPr>
        <p:txBody>
          <a:bodyPr vert="horz" wrap="square" lIns="0" tIns="5715" rIns="0" bIns="0" rtlCol="0" anchor="t">
            <a:spAutoFit/>
          </a:bodyPr>
          <a:lstStyle/>
          <a:p>
            <a:pPr marL="12700" marR="5080" algn="ctr">
              <a:lnSpc>
                <a:spcPct val="102400"/>
              </a:lnSpc>
              <a:spcBef>
                <a:spcPts val="45"/>
              </a:spcBef>
            </a:pPr>
            <a:r>
              <a:rPr lang="en-US" sz="3200" b="1" i="1" dirty="0">
                <a:latin typeface="Times New Roman"/>
                <a:cs typeface="Times New Roman"/>
              </a:rPr>
              <a:t>RTL Design and ASIC Synthesis of a 4-Channel Digital Beamforming Processor in 45nm CMOS</a:t>
            </a:r>
            <a:endParaRPr lang="en-US" b="1" i="1" dirty="0"/>
          </a:p>
        </p:txBody>
      </p:sp>
      <p:sp>
        <p:nvSpPr>
          <p:cNvPr id="48" name="object 15">
            <a:extLst>
              <a:ext uri="{FF2B5EF4-FFF2-40B4-BE49-F238E27FC236}">
                <a16:creationId xmlns:a16="http://schemas.microsoft.com/office/drawing/2014/main" id="{1B19C00C-03AD-4100-A48A-B1C904A7067A}"/>
              </a:ext>
            </a:extLst>
          </p:cNvPr>
          <p:cNvSpPr txBox="1"/>
          <p:nvPr/>
        </p:nvSpPr>
        <p:spPr>
          <a:xfrm>
            <a:off x="8186918" y="3784244"/>
            <a:ext cx="3881974" cy="2970685"/>
          </a:xfrm>
          <a:prstGeom prst="rect">
            <a:avLst/>
          </a:prstGeom>
        </p:spPr>
        <p:txBody>
          <a:bodyPr vert="horz" wrap="square" lIns="0" tIns="15875" rIns="0" bIns="0" rtlCol="0" anchor="t">
            <a:spAutoFit/>
          </a:bodyPr>
          <a:lstStyle/>
          <a:p>
            <a:pPr marL="12700">
              <a:spcBef>
                <a:spcPts val="125"/>
              </a:spcBef>
            </a:pPr>
            <a:endParaRPr lang="en-IN" sz="2000" b="1" dirty="0">
              <a:latin typeface="Georgia"/>
              <a:cs typeface="Georgia"/>
            </a:endParaRPr>
          </a:p>
          <a:p>
            <a:pPr marL="12700" marR="887730">
              <a:lnSpc>
                <a:spcPct val="100200"/>
              </a:lnSpc>
            </a:pPr>
            <a:r>
              <a:rPr lang="en-US" sz="2000" b="1" dirty="0">
                <a:latin typeface="Georgia"/>
                <a:cs typeface="Georgia"/>
              </a:rPr>
              <a:t>Name of the Guide</a:t>
            </a:r>
            <a:r>
              <a:rPr lang="en-US" sz="2000" b="1" spc="-5" dirty="0">
                <a:latin typeface="Georgia"/>
                <a:cs typeface="Georgia"/>
              </a:rPr>
              <a:t>: </a:t>
            </a:r>
            <a:r>
              <a:rPr lang="en-US" sz="2000" spc="-5" dirty="0">
                <a:latin typeface="Georgia"/>
                <a:cs typeface="Georgia"/>
              </a:rPr>
              <a:t>Mr. Vignesh </a:t>
            </a:r>
          </a:p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IN" dirty="0"/>
          </a:p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IN" dirty="0">
              <a:latin typeface="Times New Roman"/>
            </a:endParaRPr>
          </a:p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IN" sz="2000" b="1" dirty="0">
                <a:latin typeface="Georgia"/>
              </a:rPr>
              <a:t>Evaluators:</a:t>
            </a:r>
            <a:br>
              <a:rPr lang="en-IN" sz="2000" b="1" dirty="0">
                <a:latin typeface="Georgia"/>
              </a:rPr>
            </a:br>
            <a:r>
              <a:rPr lang="en-IN" sz="2000" dirty="0">
                <a:latin typeface="Georgia"/>
              </a:rPr>
              <a:t>Dr. Ashish Goswami</a:t>
            </a:r>
          </a:p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IN" sz="2000" dirty="0">
                <a:latin typeface="Georgia"/>
              </a:rPr>
              <a:t>Mr. Swaminathan R</a:t>
            </a:r>
          </a:p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IN" dirty="0"/>
          </a:p>
          <a:p>
            <a:pPr marL="12700" marR="887730">
              <a:lnSpc>
                <a:spcPct val="100200"/>
              </a:lnSpc>
            </a:pPr>
            <a:endParaRPr dirty="0">
              <a:latin typeface="Georgia"/>
              <a:cs typeface="Georgia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2DB3E56-D34D-4C9E-BC45-229A6E18A067}"/>
              </a:ext>
            </a:extLst>
          </p:cNvPr>
          <p:cNvSpPr txBox="1"/>
          <p:nvPr/>
        </p:nvSpPr>
        <p:spPr>
          <a:xfrm>
            <a:off x="1009012" y="934383"/>
            <a:ext cx="9596384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IN" sz="2400" b="1" dirty="0">
                <a:highlight>
                  <a:srgbClr val="FFFFFF"/>
                </a:highlight>
                <a:latin typeface="Times New Roman"/>
                <a:ea typeface="Calibri"/>
                <a:cs typeface="Times New Roman"/>
              </a:rPr>
              <a:t>19ECE498</a:t>
            </a:r>
            <a:r>
              <a:rPr lang="en-IN" sz="2400" b="1" dirty="0">
                <a:latin typeface="Times New Roman"/>
                <a:ea typeface="Calibri"/>
                <a:cs typeface="Times New Roman"/>
              </a:rPr>
              <a:t>-</a:t>
            </a:r>
            <a:r>
              <a:rPr lang="en-US" sz="2400" b="1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 PROJECT PHASE</a:t>
            </a:r>
            <a:r>
              <a:rPr lang="en-US" sz="2400" b="1" dirty="0">
                <a:solidFill>
                  <a:srgbClr val="000000"/>
                </a:solidFill>
                <a:effectLst/>
                <a:latin typeface="Times New Roman"/>
                <a:ea typeface="Times New Roman" panose="02020603050405020304" pitchFamily="18" charset="0"/>
                <a:cs typeface="Times New Roman"/>
              </a:rPr>
              <a:t> I</a:t>
            </a:r>
            <a:endParaRPr lang="en-US" sz="2400" dirty="0">
              <a:latin typeface="Times New Roman"/>
              <a:cs typeface="Times New Roman"/>
            </a:endParaRPr>
          </a:p>
        </p:txBody>
      </p:sp>
      <p:sp>
        <p:nvSpPr>
          <p:cNvPr id="2" name="object 15">
            <a:extLst>
              <a:ext uri="{FF2B5EF4-FFF2-40B4-BE49-F238E27FC236}">
                <a16:creationId xmlns:a16="http://schemas.microsoft.com/office/drawing/2014/main" id="{93011EF8-F417-CDA6-ED89-EBA9504A2043}"/>
              </a:ext>
            </a:extLst>
          </p:cNvPr>
          <p:cNvSpPr txBox="1"/>
          <p:nvPr/>
        </p:nvSpPr>
        <p:spPr>
          <a:xfrm>
            <a:off x="363682" y="3781193"/>
            <a:ext cx="7023183" cy="2847574"/>
          </a:xfrm>
          <a:prstGeom prst="rect">
            <a:avLst/>
          </a:prstGeom>
        </p:spPr>
        <p:txBody>
          <a:bodyPr vert="horz" wrap="square" lIns="0" tIns="15875" rIns="0" bIns="0" rtlCol="0" anchor="t">
            <a:spAutoFit/>
          </a:bodyPr>
          <a:lstStyle/>
          <a:p>
            <a:pPr marL="12700">
              <a:spcBef>
                <a:spcPts val="125"/>
              </a:spcBef>
            </a:pPr>
            <a:endParaRPr lang="en-IN" sz="2000" b="1" dirty="0">
              <a:latin typeface="Georgia"/>
              <a:cs typeface="Georgia"/>
            </a:endParaRPr>
          </a:p>
          <a:p>
            <a:pPr marL="12700" marR="887730">
              <a:lnSpc>
                <a:spcPct val="100200"/>
              </a:lnSpc>
            </a:pPr>
            <a:r>
              <a:rPr lang="en-US" sz="2000" b="1" dirty="0">
                <a:latin typeface="Georgia"/>
                <a:cs typeface="Georgia"/>
              </a:rPr>
              <a:t>TEAM </a:t>
            </a:r>
            <a:r>
              <a:rPr lang="en-US" sz="2000" b="1" spc="-5" dirty="0">
                <a:latin typeface="Georgia"/>
                <a:cs typeface="Georgia"/>
              </a:rPr>
              <a:t>MEMBERS: B018</a:t>
            </a:r>
          </a:p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IN" dirty="0"/>
          </a:p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IN" b="1" dirty="0"/>
              <a:t>REG. NO</a:t>
            </a:r>
            <a:r>
              <a:rPr lang="en-IN" dirty="0"/>
              <a:t>.                           </a:t>
            </a:r>
            <a:r>
              <a:rPr lang="en-IN" b="1" dirty="0"/>
              <a:t>NAME</a:t>
            </a:r>
          </a:p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IN" dirty="0"/>
          </a:p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IN" dirty="0"/>
              <a:t>BL.EN.U4ECE23101         A ADHARSH</a:t>
            </a:r>
          </a:p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IN" dirty="0"/>
              <a:t>BL.EN.U4ECE23147         SURYA NARAYANAN RAMAKRISHNAN</a:t>
            </a:r>
          </a:p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IN" dirty="0"/>
              <a:t>BL.EN.U4ECE23240         RISHABH S BHAT</a:t>
            </a:r>
          </a:p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IN" dirty="0"/>
          </a:p>
          <a:p>
            <a:pPr marL="12700" marR="887730">
              <a:lnSpc>
                <a:spcPct val="100200"/>
              </a:lnSpc>
            </a:pPr>
            <a:endParaRPr dirty="0">
              <a:latin typeface="Georgia"/>
              <a:cs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1283671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DB4E12-3200-0B04-E28E-563FC6101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C1B33-F347-F92C-8B20-2D610FB66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699" y="-322762"/>
            <a:ext cx="9316713" cy="1016414"/>
          </a:xfrm>
        </p:spPr>
        <p:txBody>
          <a:bodyPr anchor="b">
            <a:normAutofit/>
          </a:bodyPr>
          <a:lstStyle/>
          <a:p>
            <a:pPr algn="ctr"/>
            <a:r>
              <a:rPr lang="en-US" sz="3600" b="1" i="1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sz="3600" b="1" i="1">
                <a:latin typeface="Times New Roman"/>
                <a:cs typeface="Times New Roman"/>
              </a:rPr>
              <a:t>                 Introduction </a:t>
            </a:r>
            <a:endParaRPr lang="en-US" sz="3600" i="1">
              <a:ea typeface="Calibri Light"/>
              <a:cs typeface="Calibri Ligh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5B883A-CA78-3115-C14B-0216631C37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06961" y="691345"/>
                <a:ext cx="10775505" cy="5665005"/>
              </a:xfrm>
            </p:spPr>
            <p:txBody>
              <a:bodyPr vert="horz" lIns="91440" tIns="45720" rIns="91440" bIns="45720" rtlCol="0" anchor="t">
                <a:noAutofit/>
              </a:bodyPr>
              <a:lstStyle/>
              <a:p>
                <a:pPr marL="0" indent="0">
                  <a:buNone/>
                </a:pPr>
                <a:r>
                  <a:rPr lang="en-US" sz="2000" b="1">
                    <a:latin typeface="Times New Roman"/>
                    <a:ea typeface="Calibri"/>
                    <a:cs typeface="Times New Roman"/>
                  </a:rPr>
                  <a:t>Digital Beamforming:</a:t>
                </a:r>
              </a:p>
              <a:p>
                <a:pPr marL="0" indent="0">
                  <a:buNone/>
                </a:pPr>
                <a:r>
                  <a:rPr lang="en-US" sz="1800">
                    <a:latin typeface="Times New Roman"/>
                    <a:ea typeface="+mn-lt"/>
                    <a:cs typeface="Times New Roman"/>
                  </a:rPr>
                  <a:t>Digital beamforming combines signals from multiple antenna channels using complex-valued weights so that signals arriving from a desired direction are enhanced while signals from other directions are attenuated.</a:t>
                </a:r>
              </a:p>
              <a:p>
                <a:pPr marL="0" indent="0">
                  <a:buNone/>
                </a:pPr>
                <a:r>
                  <a:rPr lang="en-US" sz="1800" b="1">
                    <a:latin typeface="Times New Roman"/>
                    <a:ea typeface="Calibri"/>
                    <a:cs typeface="Times New Roman"/>
                  </a:rPr>
                  <a:t>For a  4-input array: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800" b="1" i="1" smtClean="0">
                          <a:latin typeface="Cambria Math" panose="02040503050406030204" pitchFamily="18" charset="0"/>
                          <a:cs typeface="Times New Roman"/>
                        </a:rPr>
                        <m:t>𝒚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1800" b="1" i="1" smtClean="0">
                              <a:latin typeface="Cambria Math" panose="02040503050406030204" pitchFamily="18" charset="0"/>
                              <a:cs typeface="Times New Roman"/>
                            </a:rPr>
                          </m:ctrlPr>
                        </m:dPr>
                        <m:e>
                          <m:r>
                            <a:rPr lang="en-IN" sz="1800" b="1" i="1" smtClean="0">
                              <a:latin typeface="Cambria Math" panose="02040503050406030204" pitchFamily="18" charset="0"/>
                              <a:cs typeface="Times New Roman"/>
                            </a:rPr>
                            <m:t>𝒏</m:t>
                          </m:r>
                        </m:e>
                      </m:d>
                      <m:r>
                        <a:rPr lang="en-IN" sz="1800" b="1" i="1" smtClean="0">
                          <a:latin typeface="Cambria Math" panose="02040503050406030204" pitchFamily="18" charset="0"/>
                          <a:cs typeface="Times New Roman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IN" sz="1800" b="1" i="1" smtClean="0">
                              <a:latin typeface="Cambria Math" panose="02040503050406030204" pitchFamily="18" charset="0"/>
                              <a:cs typeface="Times New Roman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1800" b="1" i="1" smtClean="0">
                              <a:latin typeface="Cambria Math" panose="02040503050406030204" pitchFamily="18" charset="0"/>
                              <a:cs typeface="Times New Roman"/>
                            </a:rPr>
                            <m:t>𝒌</m:t>
                          </m:r>
                          <m:r>
                            <a:rPr lang="en-IN" sz="1800" b="1" i="1" smtClean="0">
                              <a:latin typeface="Cambria Math" panose="02040503050406030204" pitchFamily="18" charset="0"/>
                              <a:cs typeface="Times New Roman"/>
                            </a:rPr>
                            <m:t>=</m:t>
                          </m:r>
                          <m:r>
                            <a:rPr lang="en-IN" sz="1800" b="1" i="1" smtClean="0">
                              <a:latin typeface="Cambria Math" panose="02040503050406030204" pitchFamily="18" charset="0"/>
                              <a:cs typeface="Times New Roman"/>
                            </a:rPr>
                            <m:t>𝟎</m:t>
                          </m:r>
                        </m:sub>
                        <m:sup>
                          <m:r>
                            <a:rPr lang="en-IN" sz="1800" b="1" i="1" smtClean="0">
                              <a:latin typeface="Cambria Math" panose="02040503050406030204" pitchFamily="18" charset="0"/>
                              <a:cs typeface="Times New Roman"/>
                            </a:rPr>
                            <m:t>𝒏</m:t>
                          </m:r>
                          <m:r>
                            <a:rPr lang="en-IN" sz="1800" b="1" i="1" smtClean="0">
                              <a:latin typeface="Cambria Math" panose="02040503050406030204" pitchFamily="18" charset="0"/>
                              <a:cs typeface="Times New Roman"/>
                            </a:rPr>
                            <m:t>−</m:t>
                          </m:r>
                          <m:r>
                            <a:rPr lang="en-IN" sz="1800" b="1" i="1" smtClean="0">
                              <a:latin typeface="Cambria Math" panose="02040503050406030204" pitchFamily="18" charset="0"/>
                              <a:cs typeface="Times New Roman"/>
                            </a:rPr>
                            <m:t>𝟏</m:t>
                          </m:r>
                        </m:sup>
                        <m:e>
                          <m:sSup>
                            <m:sSupPr>
                              <m:ctrlPr>
                                <a:rPr lang="en-IN" sz="1800" b="1" i="1" smtClean="0">
                                  <a:latin typeface="Cambria Math" panose="02040503050406030204" pitchFamily="18" charset="0"/>
                                  <a:cs typeface="Times New Roman"/>
                                </a:rPr>
                              </m:ctrlPr>
                            </m:sSupPr>
                            <m:e>
                              <m:r>
                                <a:rPr lang="en-IN" sz="1800" b="1" i="1" smtClean="0">
                                  <a:latin typeface="Cambria Math" panose="02040503050406030204" pitchFamily="18" charset="0"/>
                                  <a:cs typeface="Times New Roman"/>
                                </a:rPr>
                                <m:t>𝒘</m:t>
                              </m:r>
                            </m:e>
                            <m:sup>
                              <m:r>
                                <a:rPr lang="en-IN" sz="1800" b="1" i="1" smtClean="0">
                                  <a:latin typeface="Cambria Math" panose="02040503050406030204" pitchFamily="18" charset="0"/>
                                  <a:cs typeface="Times New Roman"/>
                                </a:rPr>
                                <m:t>∗</m:t>
                              </m:r>
                            </m:sup>
                          </m:sSup>
                          <m:d>
                            <m:dPr>
                              <m:begChr m:val="["/>
                              <m:endChr m:val="]"/>
                              <m:ctrlPr>
                                <a:rPr lang="en-IN" sz="1800" b="1" i="1" smtClean="0">
                                  <a:latin typeface="Cambria Math" panose="02040503050406030204" pitchFamily="18" charset="0"/>
                                  <a:cs typeface="Times New Roman"/>
                                </a:rPr>
                              </m:ctrlPr>
                            </m:dPr>
                            <m:e>
                              <m:r>
                                <a:rPr lang="en-IN" sz="1800" b="1" i="1" smtClean="0">
                                  <a:latin typeface="Cambria Math" panose="02040503050406030204" pitchFamily="18" charset="0"/>
                                  <a:cs typeface="Times New Roman"/>
                                </a:rPr>
                                <m:t>𝒏</m:t>
                              </m:r>
                            </m:e>
                          </m:d>
                          <m:r>
                            <a:rPr lang="en-IN" sz="1800" b="1" i="1" smtClean="0">
                              <a:latin typeface="Cambria Math" panose="02040503050406030204" pitchFamily="18" charset="0"/>
                              <a:cs typeface="Times New Roman"/>
                            </a:rPr>
                            <m:t>.</m:t>
                          </m:r>
                          <m:r>
                            <a:rPr lang="en-IN" sz="1800" b="1" i="1" smtClean="0">
                              <a:latin typeface="Cambria Math" panose="02040503050406030204" pitchFamily="18" charset="0"/>
                              <a:cs typeface="Times New Roman"/>
                            </a:rPr>
                            <m:t>𝒙</m:t>
                          </m:r>
                          <m:r>
                            <a:rPr lang="en-IN" sz="1800" b="1" i="1" smtClean="0">
                              <a:latin typeface="Cambria Math" panose="02040503050406030204" pitchFamily="18" charset="0"/>
                              <a:cs typeface="Times New Roman"/>
                            </a:rPr>
                            <m:t>[</m:t>
                          </m:r>
                          <m:r>
                            <a:rPr lang="en-IN" sz="1800" b="1" i="1" smtClean="0">
                              <a:latin typeface="Cambria Math" panose="02040503050406030204" pitchFamily="18" charset="0"/>
                              <a:cs typeface="Times New Roman"/>
                            </a:rPr>
                            <m:t>𝒏</m:t>
                          </m:r>
                          <m:r>
                            <a:rPr lang="en-IN" sz="1800" b="1" i="1" smtClean="0">
                              <a:latin typeface="Cambria Math" panose="02040503050406030204" pitchFamily="18" charset="0"/>
                              <a:cs typeface="Times New Roman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en-US" sz="2400" b="1" i="1">
                  <a:latin typeface="Times New Roman"/>
                  <a:cs typeface="Times New Roman"/>
                </a:endParaRPr>
              </a:p>
              <a:p>
                <a:pPr marL="0" indent="0">
                  <a:buNone/>
                </a:pPr>
                <a:r>
                  <a:rPr lang="en-US" sz="1800" b="1">
                    <a:latin typeface="Times New Roman"/>
                    <a:ea typeface="Calibri"/>
                    <a:cs typeface="Times New Roman"/>
                  </a:rPr>
                  <a:t>Where:</a:t>
                </a:r>
              </a:p>
              <a:p>
                <a:r>
                  <a:rPr lang="en-US" sz="1800" b="1" i="1">
                    <a:latin typeface="Times New Roman"/>
                    <a:ea typeface="Calibri"/>
                    <a:cs typeface="Times New Roman"/>
                  </a:rPr>
                  <a:t>n</a:t>
                </a:r>
                <a:r>
                  <a:rPr lang="en-US" sz="1800" b="1">
                    <a:latin typeface="Times New Roman"/>
                    <a:ea typeface="Calibri"/>
                    <a:cs typeface="Times New Roman"/>
                  </a:rPr>
                  <a:t> </a:t>
                </a:r>
                <a:r>
                  <a:rPr lang="en-US" sz="1800">
                    <a:latin typeface="Times New Roman"/>
                    <a:ea typeface="Calibri"/>
                    <a:cs typeface="Times New Roman"/>
                  </a:rPr>
                  <a:t>= number of channels = 4</a:t>
                </a:r>
              </a:p>
              <a:p>
                <a:r>
                  <a:rPr lang="en-US" sz="1800" b="1" i="1">
                    <a:latin typeface="Times New Roman"/>
                    <a:ea typeface="Calibri"/>
                    <a:cs typeface="Times New Roman"/>
                  </a:rPr>
                  <a:t>w[n]</a:t>
                </a:r>
                <a:r>
                  <a:rPr lang="en-US" sz="1800" b="1">
                    <a:latin typeface="Times New Roman"/>
                    <a:ea typeface="Calibri"/>
                    <a:cs typeface="Times New Roman"/>
                  </a:rPr>
                  <a:t> = </a:t>
                </a:r>
                <a:r>
                  <a:rPr lang="en-US" sz="1800">
                    <a:latin typeface="Times New Roman"/>
                    <a:ea typeface="Calibri"/>
                    <a:cs typeface="Times New Roman"/>
                  </a:rPr>
                  <a:t>complex beamforming weight</a:t>
                </a:r>
              </a:p>
              <a:p>
                <a:r>
                  <a:rPr lang="en-US" sz="1800" b="1" i="1">
                    <a:latin typeface="Times New Roman"/>
                    <a:ea typeface="Calibri"/>
                    <a:cs typeface="Times New Roman"/>
                  </a:rPr>
                  <a:t>x[n]</a:t>
                </a:r>
                <a:r>
                  <a:rPr lang="en-US" sz="1800" b="1">
                    <a:latin typeface="Times New Roman"/>
                    <a:ea typeface="Calibri"/>
                    <a:cs typeface="Times New Roman"/>
                  </a:rPr>
                  <a:t> = </a:t>
                </a:r>
                <a:r>
                  <a:rPr lang="en-US" sz="1800">
                    <a:latin typeface="Times New Roman"/>
                    <a:ea typeface="Calibri"/>
                    <a:cs typeface="Times New Roman"/>
                  </a:rPr>
                  <a:t>complex digital sample</a:t>
                </a:r>
              </a:p>
              <a:p>
                <a:r>
                  <a:rPr lang="en-US" sz="1800" b="1" i="1">
                    <a:latin typeface="Times New Roman"/>
                    <a:ea typeface="Calibri"/>
                    <a:cs typeface="Times New Roman"/>
                  </a:rPr>
                  <a:t>y[n] = </a:t>
                </a:r>
                <a:r>
                  <a:rPr lang="en-US" sz="1800">
                    <a:latin typeface="Times New Roman"/>
                    <a:ea typeface="Calibri"/>
                    <a:cs typeface="Times New Roman"/>
                  </a:rPr>
                  <a:t>beamformed output</a:t>
                </a:r>
                <a:br>
                  <a:rPr lang="en-US" sz="1800">
                    <a:latin typeface="Times New Roman"/>
                    <a:ea typeface="Calibri"/>
                    <a:cs typeface="Times New Roman"/>
                  </a:rPr>
                </a:br>
                <a:endParaRPr lang="en-US" sz="1800">
                  <a:latin typeface="Times New Roman"/>
                  <a:ea typeface="Calibri"/>
                  <a:cs typeface="Times New Roman"/>
                </a:endParaRPr>
              </a:p>
              <a:p>
                <a:pPr marL="0" indent="0">
                  <a:buNone/>
                </a:pPr>
                <a:r>
                  <a:rPr lang="en-US" sz="1800">
                    <a:ea typeface="+mn-lt"/>
                    <a:cs typeface="+mn-lt"/>
                  </a:rPr>
                  <a:t>The weights control the </a:t>
                </a:r>
                <a:r>
                  <a:rPr lang="en-US" sz="1800" b="1">
                    <a:ea typeface="+mn-lt"/>
                    <a:cs typeface="+mn-lt"/>
                  </a:rPr>
                  <a:t>phase and amplitude</a:t>
                </a:r>
                <a:r>
                  <a:rPr lang="en-US" sz="1800">
                    <a:ea typeface="+mn-lt"/>
                    <a:cs typeface="+mn-lt"/>
                  </a:rPr>
                  <a:t> of each channel so that signals from the desired direction add constructively while signals from undesired directions are attenuated.</a:t>
                </a:r>
                <a:br>
                  <a:rPr lang="en-US" sz="1800">
                    <a:latin typeface="Times New Roman"/>
                    <a:ea typeface="Calibri"/>
                    <a:cs typeface="Times New Roman"/>
                  </a:rPr>
                </a:br>
                <a:endParaRPr lang="en-US" sz="1800">
                  <a:latin typeface="Times New Roman"/>
                  <a:ea typeface="Calibri"/>
                  <a:cs typeface="Times New Roman"/>
                </a:endParaRPr>
              </a:p>
              <a:p>
                <a:pPr marL="0" indent="0">
                  <a:buNone/>
                </a:pPr>
                <a:r>
                  <a:rPr lang="en-US" sz="1800">
                    <a:latin typeface="Times New Roman"/>
                    <a:ea typeface="Calibri"/>
                    <a:cs typeface="Times New Roman"/>
                  </a:rPr>
                  <a:t>Our ASIC flow is as follows:</a:t>
                </a:r>
              </a:p>
              <a:p>
                <a:pPr marL="0" indent="0">
                  <a:buNone/>
                </a:pPr>
                <a:r>
                  <a:rPr lang="en-US" sz="1200" b="1">
                    <a:latin typeface="Times New Roman"/>
                    <a:ea typeface="Calibri"/>
                    <a:cs typeface="Times New Roman"/>
                  </a:rPr>
                  <a:t>Digital Samples --&gt; Input registers ---&gt; Weight memory ---&gt; Complex Multipliers ---&gt; Adder Tree --&gt; Beamformed Output</a:t>
                </a:r>
                <a:endParaRPr lang="en-US" sz="1400" b="1">
                  <a:latin typeface="Times New Roman"/>
                  <a:ea typeface="Calibri"/>
                  <a:cs typeface="Times New Roman"/>
                </a:endParaRPr>
              </a:p>
              <a:p>
                <a:pPr marL="0" indent="0">
                  <a:buNone/>
                </a:pPr>
                <a:r>
                  <a:rPr lang="en-US" sz="1800">
                    <a:latin typeface="Times New Roman"/>
                    <a:ea typeface="Calibri"/>
                    <a:cs typeface="Times New Roman"/>
                  </a:rPr>
                  <a:t>      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5B883A-CA78-3115-C14B-0216631C37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6961" y="691345"/>
                <a:ext cx="10775505" cy="5665005"/>
              </a:xfrm>
              <a:blipFill>
                <a:blip r:embed="rId2"/>
                <a:stretch>
                  <a:fillRect l="-623" t="-1075" b="-161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D5D2DE-C646-5808-6F91-8D7CCAEE7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98A6D-CD5C-4802-925B-E5FD8D219589}" type="slidenum">
              <a:rPr lang="en-IN" smtClean="0"/>
              <a:t>2</a:t>
            </a:fld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88AD9C-C1AA-E2BD-0ACA-3721495E3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D3312-3917-4C8D-8D3D-3E5F4DB4C899}" type="datetime1">
              <a:rPr lang="en-IN" smtClean="0"/>
              <a:t>27-09-2026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2390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F6F5D-B568-44DB-9134-48AE2340F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4437" y="-180044"/>
            <a:ext cx="9316713" cy="1016414"/>
          </a:xfrm>
        </p:spPr>
        <p:txBody>
          <a:bodyPr anchor="b">
            <a:normAutofit/>
          </a:bodyPr>
          <a:lstStyle/>
          <a:p>
            <a:pPr algn="ctr"/>
            <a:r>
              <a:rPr lang="en-US" sz="3600" b="1" i="1">
                <a:latin typeface="Times New Roman"/>
                <a:cs typeface="Times New Roman"/>
              </a:rPr>
              <a:t>Motivation</a:t>
            </a:r>
            <a:endParaRPr lang="en-IN" sz="3600" i="1">
              <a:latin typeface="Calibri Light" panose="020F0302020204030204"/>
              <a:ea typeface="Calibri Light" panose="020F0302020204030204"/>
              <a:cs typeface="Calibri Light" panose="020F03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20F133-8386-40C7-9802-FC570A2308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042" y="1114536"/>
            <a:ext cx="10775505" cy="505029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>
                <a:latin typeface="Times New Roman"/>
                <a:ea typeface="Calibri"/>
                <a:cs typeface="Times New Roman"/>
              </a:rPr>
              <a:t>Analog Beamforming processors require dedicated analog phase/ amplitude control for analog channels. On the contrary Digital Beamforming processors provide. </a:t>
            </a:r>
          </a:p>
          <a:p>
            <a:pPr marL="0" indent="0">
              <a:buNone/>
            </a:pPr>
            <a:endParaRPr lang="en-US"/>
          </a:p>
          <a:p>
            <a:pPr marL="285750" indent="-285750"/>
            <a:r>
              <a:rPr lang="en-US" sz="1800">
                <a:latin typeface="Times New Roman"/>
                <a:ea typeface="Calibri"/>
                <a:cs typeface="Times New Roman"/>
              </a:rPr>
              <a:t>Programmable beam steering</a:t>
            </a:r>
          </a:p>
          <a:p>
            <a:pPr marL="285750" indent="-285750"/>
            <a:r>
              <a:rPr lang="en-US" sz="1800">
                <a:latin typeface="Times New Roman"/>
                <a:ea typeface="Calibri"/>
                <a:cs typeface="Times New Roman"/>
              </a:rPr>
              <a:t>Flexible beam patterns</a:t>
            </a:r>
          </a:p>
          <a:p>
            <a:pPr marL="285750" indent="-285750"/>
            <a:r>
              <a:rPr lang="en-US" sz="1800">
                <a:latin typeface="Times New Roman"/>
                <a:ea typeface="Calibri"/>
                <a:cs typeface="Times New Roman"/>
              </a:rPr>
              <a:t>Digital control of Amplitude and Phase</a:t>
            </a:r>
          </a:p>
          <a:p>
            <a:pPr marL="285750" indent="-285750"/>
            <a:r>
              <a:rPr lang="en-US" sz="1800">
                <a:latin typeface="Times New Roman"/>
                <a:ea typeface="Calibri"/>
                <a:cs typeface="Times New Roman"/>
              </a:rPr>
              <a:t>Possibility of Adaptive weight calculation</a:t>
            </a:r>
          </a:p>
          <a:p>
            <a:pPr marL="0" indent="0">
              <a:buNone/>
            </a:pPr>
            <a:endParaRPr lang="en-US" sz="1800">
              <a:latin typeface="Times New Roman"/>
              <a:ea typeface="Calibri"/>
              <a:cs typeface="Times New Roman"/>
            </a:endParaRPr>
          </a:p>
          <a:p>
            <a:pPr marL="0" indent="0">
              <a:buNone/>
            </a:pPr>
            <a:r>
              <a:rPr lang="en-US" sz="2400" b="1">
                <a:latin typeface="Times New Roman"/>
                <a:ea typeface="Calibri"/>
                <a:cs typeface="Times New Roman"/>
              </a:rPr>
              <a:t>Why ASIC?</a:t>
            </a:r>
            <a:endParaRPr lang="en-US" b="1"/>
          </a:p>
          <a:p>
            <a:pPr marL="0" indent="0">
              <a:buNone/>
            </a:pPr>
            <a:r>
              <a:rPr lang="en-US" sz="2000" b="1">
                <a:latin typeface="Times New Roman"/>
                <a:ea typeface="Calibri"/>
                <a:cs typeface="Times New Roman"/>
              </a:rPr>
              <a:t>1. </a:t>
            </a:r>
            <a:r>
              <a:rPr lang="en-US" sz="2000">
                <a:latin typeface="Times New Roman"/>
                <a:ea typeface="Calibri"/>
                <a:cs typeface="Times New Roman"/>
              </a:rPr>
              <a:t>ASIC based implementation and the ASIC design flow help to evaluate functionality such as Area, Timing, Maximum Operating Frequency and Power.</a:t>
            </a:r>
          </a:p>
          <a:p>
            <a:pPr marL="0" indent="0">
              <a:buNone/>
            </a:pPr>
            <a:r>
              <a:rPr lang="en-I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ASIC implementation enables accurate and efficient hardware realization of the beamforming algorithm</a:t>
            </a:r>
            <a:endParaRPr lang="en-US" sz="200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>
              <a:latin typeface="Times New Roman"/>
              <a:ea typeface="Calibri"/>
              <a:cs typeface="Times New Roman"/>
            </a:endParaRPr>
          </a:p>
          <a:p>
            <a:pPr marL="0" indent="0">
              <a:buNone/>
            </a:pPr>
            <a:endParaRPr lang="en-US" sz="180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br>
              <a:rPr lang="en-US" sz="1800">
                <a:latin typeface="Calibri"/>
                <a:ea typeface="Calibri"/>
                <a:cs typeface="Calibri"/>
              </a:rPr>
            </a:br>
            <a:endParaRPr lang="en-US" sz="1800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0D8EC3-D209-4046-9D28-6C32EF6BA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98A6D-CD5C-4802-925B-E5FD8D219589}" type="slidenum">
              <a:rPr lang="en-IN" smtClean="0"/>
              <a:t>3</a:t>
            </a:fld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8B7210-F937-C51A-AF02-4E504424A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D3312-3917-4C8D-8D3D-3E5F4DB4C899}" type="datetime1">
              <a:rPr lang="en-IN" smtClean="0"/>
              <a:t>27-09-2026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583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63;p14"/>
          <p:cNvSpPr txBox="1">
            <a:spLocks noGrp="1"/>
          </p:cNvSpPr>
          <p:nvPr>
            <p:ph type="title"/>
          </p:nvPr>
        </p:nvSpPr>
        <p:spPr>
          <a:xfrm>
            <a:off x="167147" y="136525"/>
            <a:ext cx="12024853" cy="221043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>
              <a:defRPr sz="2500"/>
            </a:lvl1pPr>
          </a:lstStyle>
          <a:p>
            <a:r>
              <a:rPr lang="en-US" sz="4000" b="1">
                <a:solidFill>
                  <a:schemeClr val="tx2"/>
                </a:solidFill>
                <a:latin typeface="Times New Roman"/>
                <a:cs typeface="Times New Roman"/>
              </a:rPr>
              <a:t>                                          </a:t>
            </a:r>
            <a:r>
              <a:rPr lang="en-US" sz="4000" b="1" i="1">
                <a:latin typeface="Times New Roman"/>
                <a:cs typeface="Times New Roman"/>
              </a:rPr>
              <a:t>Objective</a:t>
            </a:r>
            <a:br>
              <a:rPr 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To design, functionally verify, and synthesize the RTL implementation of a 4-channel digital beamforming processor targeting the GPDK45 45-nm technology library. The design will perform channel-wise weighting and signal combination using fixed-point arithmetic to achieve beam steering, with functional correctness validated against a MATLAB reference model. Post-synthesis, the design will be evaluated in terms of area, timing, and power.</a:t>
            </a:r>
            <a:endParaRPr lang="en-US" sz="220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116" name="Google Shape;64;p14"/>
          <p:cNvSpPr txBox="1">
            <a:spLocks noGrp="1"/>
          </p:cNvSpPr>
          <p:nvPr>
            <p:ph type="body" idx="1"/>
          </p:nvPr>
        </p:nvSpPr>
        <p:spPr>
          <a:xfrm>
            <a:off x="305691" y="3965594"/>
            <a:ext cx="10703643" cy="19140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endParaRPr lang="en-IN" sz="2400" b="1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Sub-Objectives:</a:t>
            </a:r>
            <a:endParaRPr lang="en-US" sz="2400" b="1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lvl="0"/>
            <a:r>
              <a:rPr lang="en-IN" sz="1800">
                <a:latin typeface="Times New Roman" panose="02020603050405020304" pitchFamily="18" charset="0"/>
                <a:cs typeface="Times New Roman" panose="02020603050405020304" pitchFamily="18" charset="0"/>
              </a:rPr>
              <a:t>Define the beamforming architecture and fixed-point representation for the input I/Q samples, complex beamforming weights, channel count, and programmable steering directions. </a:t>
            </a:r>
          </a:p>
          <a:p>
            <a:pPr lvl="0"/>
            <a:r>
              <a:rPr lang="en-IN" sz="1800">
                <a:latin typeface="Times New Roman" panose="02020603050405020304" pitchFamily="18" charset="0"/>
                <a:cs typeface="Times New Roman" panose="02020603050405020304" pitchFamily="18" charset="0"/>
              </a:rPr>
              <a:t>Develop the synthesizable RTL for the key processing blocks, including the per-channel complex multiplier, weight LUT/memory, control unit, adder tree, and top-level integration. </a:t>
            </a:r>
          </a:p>
          <a:p>
            <a:pPr lvl="0"/>
            <a:r>
              <a:rPr lang="en-IN" sz="1800">
                <a:latin typeface="Times New Roman" panose="02020603050405020304" pitchFamily="18" charset="0"/>
                <a:cs typeface="Times New Roman" panose="02020603050405020304" pitchFamily="18" charset="0"/>
              </a:rPr>
              <a:t>Develop a MATLAB/Python reference model to generate multi-channel test signals and beamforming weights using conventional Delay-and-Sum beamforming and selected adaptive algorithms such as LMS/MVDR. Use the model to generate reference data and quantized weights for RTL verification. </a:t>
            </a:r>
          </a:p>
          <a:p>
            <a:pPr lvl="0"/>
            <a:r>
              <a:rPr lang="en-IN" sz="1800">
                <a:latin typeface="Times New Roman" panose="02020603050405020304" pitchFamily="18" charset="0"/>
                <a:cs typeface="Times New Roman" panose="02020603050405020304" pitchFamily="18" charset="0"/>
              </a:rPr>
              <a:t>Functionally verify the RTL using Cadence </a:t>
            </a:r>
            <a:r>
              <a:rPr lang="en-IN" sz="1800" err="1">
                <a:latin typeface="Times New Roman" panose="02020603050405020304" pitchFamily="18" charset="0"/>
                <a:cs typeface="Times New Roman" panose="02020603050405020304" pitchFamily="18" charset="0"/>
              </a:rPr>
              <a:t>Xcelium</a:t>
            </a:r>
            <a:r>
              <a:rPr lang="en-IN" sz="1800">
                <a:latin typeface="Times New Roman" panose="02020603050405020304" pitchFamily="18" charset="0"/>
                <a:cs typeface="Times New Roman" panose="02020603050405020304" pitchFamily="18" charset="0"/>
              </a:rPr>
              <a:t> by comparing RTL outputs with the MATLAB/Python reference model across multiple predefined steering directions and test conditions. </a:t>
            </a:r>
          </a:p>
          <a:p>
            <a:pPr lvl="0"/>
            <a:r>
              <a:rPr lang="en-IN" sz="1800">
                <a:latin typeface="Times New Roman" panose="02020603050405020304" pitchFamily="18" charset="0"/>
                <a:cs typeface="Times New Roman" panose="02020603050405020304" pitchFamily="18" charset="0"/>
              </a:rPr>
              <a:t>Synthesize the verified RTL using Cadence Genus targeting the GPDK45 standard-cell library, and evaluate the implementation in terms of area, timing, maximum operating frequency, and power consumption.</a:t>
            </a:r>
          </a:p>
          <a:p>
            <a:pPr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sz="200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</a:endParaRPr>
          </a:p>
          <a:p>
            <a:pPr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sz="200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</a:endParaRPr>
          </a:p>
          <a:p>
            <a:pPr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sz="2400">
              <a:solidFill>
                <a:schemeClr val="tx2"/>
              </a:solidFill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rgbClr val="000000"/>
              </a:buClr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sz="24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7A22688-0EA4-4848-B2D6-F3A56F56EF2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0833113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F222F-9B5A-70D5-AE12-FA2AC370C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433" y="136525"/>
            <a:ext cx="10515600" cy="1090049"/>
          </a:xfrm>
        </p:spPr>
        <p:txBody>
          <a:bodyPr>
            <a:noAutofit/>
          </a:bodyPr>
          <a:lstStyle/>
          <a:p>
            <a:r>
              <a:rPr lang="en-IN" sz="3600" b="1" i="1">
                <a:latin typeface="Times New Roman"/>
                <a:cs typeface="Times New Roman"/>
              </a:rPr>
              <a:t>Conceptual Architecture/Block Diagram and Methodology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7DDEA7-610B-4ECC-A3DE-7DF137076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98A6D-CD5C-4802-925B-E5FD8D219589}" type="slidenum">
              <a:rPr lang="en-IN" smtClean="0"/>
              <a:t>5</a:t>
            </a:fld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F097B11-832E-9728-00A0-3664A91E6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9E4EE-F6D2-42F8-A936-D416401A206F}" type="datetime1">
              <a:rPr lang="en-IN" smtClean="0"/>
              <a:t>27-09-2026</a:t>
            </a:fld>
            <a:endParaRPr lang="en-IN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3E64FC0-3014-D979-6744-D5639C6413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9432" y="1226574"/>
            <a:ext cx="10894142" cy="51297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584BD3C-64D4-72A2-E3AD-7B8E287C414F}"/>
              </a:ext>
            </a:extLst>
          </p:cNvPr>
          <p:cNvSpPr txBox="1"/>
          <p:nvPr/>
        </p:nvSpPr>
        <p:spPr>
          <a:xfrm>
            <a:off x="2713702" y="6169581"/>
            <a:ext cx="7118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i="1"/>
              <a:t>Fig. Proposed Methodology and Architecture</a:t>
            </a:r>
          </a:p>
        </p:txBody>
      </p:sp>
    </p:spTree>
    <p:extLst>
      <p:ext uri="{BB962C8B-B14F-4D97-AF65-F5344CB8AC3E}">
        <p14:creationId xmlns:p14="http://schemas.microsoft.com/office/powerpoint/2010/main" val="6191561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472" y="164592"/>
            <a:ext cx="6942926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 i="1" dirty="0">
                <a:latin typeface="Times New Roman"/>
              </a:rPr>
              <a:t>Partial Results and Analysis</a:t>
            </a:r>
            <a:r>
              <a:rPr lang="en-IN" sz="2700" b="1" i="1" dirty="0">
                <a:latin typeface="Times New Roman"/>
              </a:rPr>
              <a:t> – Reference model</a:t>
            </a:r>
            <a:endParaRPr sz="2700" b="1" i="1" dirty="0">
              <a:latin typeface="Times New Roman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87878"/>
                </a:solidFill>
                <a:latin typeface="Arial"/>
              </a:rPr>
              <a:t>24/09/2026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510528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87878"/>
                </a:solidFill>
                <a:latin typeface="Arial"/>
              </a:rPr>
              <a:t>15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008DE1E-65BC-CE66-C03C-12F7CBBCF418}"/>
              </a:ext>
            </a:extLst>
          </p:cNvPr>
          <p:cNvSpPr txBox="1"/>
          <p:nvPr/>
        </p:nvSpPr>
        <p:spPr>
          <a:xfrm>
            <a:off x="347472" y="1120676"/>
            <a:ext cx="6096000" cy="424731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0"/>
            <a:r>
              <a:rPr lang="en-IN" b="1" dirty="0"/>
              <a:t>Reference model specifications: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Carrier Frequency:</a:t>
            </a:r>
            <a:r>
              <a:rPr lang="en-IN" dirty="0"/>
              <a:t> 2.40 GHz </a:t>
            </a:r>
          </a:p>
          <a:p>
            <a:pPr lvl="0"/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Wavelength:</a:t>
            </a:r>
            <a:r>
              <a:rPr lang="en-IN" dirty="0"/>
              <a:t> 0.1250 m </a:t>
            </a:r>
          </a:p>
          <a:p>
            <a:pPr lvl="0"/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Number of Elements:</a:t>
            </a:r>
            <a:r>
              <a:rPr lang="en-IN" dirty="0"/>
              <a:t> 4</a:t>
            </a:r>
          </a:p>
          <a:p>
            <a:pPr lvl="0"/>
            <a:r>
              <a:rPr lang="en-IN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Element Spacing:</a:t>
            </a:r>
            <a:r>
              <a:rPr lang="en-IN" dirty="0"/>
              <a:t> 0.0625 m</a:t>
            </a:r>
          </a:p>
          <a:p>
            <a:pPr lvl="0"/>
            <a:r>
              <a:rPr lang="en-IN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Signal Bandwidth:</a:t>
            </a:r>
            <a:r>
              <a:rPr lang="en-IN" dirty="0"/>
              <a:t> 5.00 MHz </a:t>
            </a:r>
          </a:p>
          <a:p>
            <a:pPr lvl="0"/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Sampling Frequency:</a:t>
            </a:r>
            <a:r>
              <a:rPr lang="en-IN" dirty="0"/>
              <a:t> 20.00 MHz </a:t>
            </a:r>
          </a:p>
          <a:p>
            <a:pPr lvl="0"/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Desired Beam Angle:</a:t>
            </a:r>
            <a:r>
              <a:rPr lang="en-IN" dirty="0"/>
              <a:t> 30°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7CF17F-36D9-A3AF-D4EC-CF5414B8E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8349" y="1118666"/>
            <a:ext cx="5538069" cy="331587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E63C9-2782-696A-5363-F715C505F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0845D8D-389B-0125-2928-D456D3054286}"/>
              </a:ext>
            </a:extLst>
          </p:cNvPr>
          <p:cNvSpPr txBox="1"/>
          <p:nvPr/>
        </p:nvSpPr>
        <p:spPr>
          <a:xfrm>
            <a:off x="347472" y="164592"/>
            <a:ext cx="6942926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 i="1" dirty="0">
                <a:latin typeface="Times New Roman"/>
              </a:rPr>
              <a:t>Partial Results and Analysis</a:t>
            </a:r>
            <a:r>
              <a:rPr lang="en-IN" sz="2700" b="1" i="1" dirty="0">
                <a:latin typeface="Times New Roman"/>
              </a:rPr>
              <a:t> – Reference model</a:t>
            </a:r>
            <a:endParaRPr sz="2700" b="1" i="1" dirty="0">
              <a:latin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62A027-0A1A-2011-DDFD-AA0CC4A85A69}"/>
              </a:ext>
            </a:extLst>
          </p:cNvPr>
          <p:cNvSpPr txBox="1"/>
          <p:nvPr/>
        </p:nvSpPr>
        <p:spPr>
          <a:xfrm>
            <a:off x="594360" y="6510528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87878"/>
                </a:solidFill>
                <a:latin typeface="Arial"/>
              </a:rPr>
              <a:t>24/09/2026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797581-F4AA-64AF-1630-8597303FDB70}"/>
              </a:ext>
            </a:extLst>
          </p:cNvPr>
          <p:cNvSpPr txBox="1"/>
          <p:nvPr/>
        </p:nvSpPr>
        <p:spPr>
          <a:xfrm>
            <a:off x="11292840" y="6510528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87878"/>
                </a:solidFill>
                <a:latin typeface="Arial"/>
              </a:rPr>
              <a:t>15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7ED85E3-9119-41B1-67EA-11E7D76DDF8B}"/>
              </a:ext>
            </a:extLst>
          </p:cNvPr>
          <p:cNvSpPr txBox="1"/>
          <p:nvPr/>
        </p:nvSpPr>
        <p:spPr>
          <a:xfrm>
            <a:off x="347472" y="1120676"/>
            <a:ext cx="551255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Antenna Element Positions:</a:t>
            </a:r>
            <a:r>
              <a:rPr lang="en-IN" dirty="0"/>
              <a:t> </a:t>
            </a:r>
          </a:p>
          <a:p>
            <a:pPr lvl="0"/>
            <a:endParaRPr lang="en-IN" dirty="0"/>
          </a:p>
          <a:p>
            <a:pPr lvl="1"/>
            <a:r>
              <a:rPr lang="en-IN" dirty="0"/>
              <a:t>Element 0: 0.0000 m </a:t>
            </a:r>
          </a:p>
          <a:p>
            <a:pPr lvl="1"/>
            <a:r>
              <a:rPr lang="en-IN" dirty="0"/>
              <a:t>Element 1: 0.0625 m </a:t>
            </a:r>
          </a:p>
          <a:p>
            <a:pPr lvl="1"/>
            <a:r>
              <a:rPr lang="en-IN" dirty="0"/>
              <a:t>Element 2: 0.1250 m </a:t>
            </a:r>
          </a:p>
          <a:p>
            <a:pPr lvl="1"/>
            <a:r>
              <a:rPr lang="en-IN" dirty="0"/>
              <a:t>Element 3: 0.1875 m </a:t>
            </a:r>
          </a:p>
          <a:p>
            <a:pPr lvl="1"/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Wave Number:</a:t>
            </a:r>
            <a:r>
              <a:rPr lang="en-IN" dirty="0"/>
              <a:t> k = 50.2655 rad/m </a:t>
            </a:r>
          </a:p>
          <a:p>
            <a:pPr lvl="0"/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Phase Difference per Element:</a:t>
            </a:r>
            <a:r>
              <a:rPr lang="en-IN" dirty="0"/>
              <a:t> k*d = 3.1416 rad</a:t>
            </a:r>
          </a:p>
          <a:p>
            <a:pPr lvl="0"/>
            <a:r>
              <a:rPr lang="en-IN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Expected Phase Difference:</a:t>
            </a:r>
            <a:r>
              <a:rPr lang="en-IN" dirty="0"/>
              <a:t> pi = 3.1416 rad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102FAE-F711-A3D8-0013-982FE9438283}"/>
              </a:ext>
            </a:extLst>
          </p:cNvPr>
          <p:cNvSpPr txBox="1"/>
          <p:nvPr/>
        </p:nvSpPr>
        <p:spPr>
          <a:xfrm>
            <a:off x="664529" y="4785098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Steering Vector: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a0 = +1.0000 +0.0000j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a1 = +0.0000 -1.0000j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a2 = -1.0000 -0.0000j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a3 = -0.0000 +1.0000j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1034AA-E84D-B509-943A-46E4FFED31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041" y="1049222"/>
            <a:ext cx="4825172" cy="4378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2678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A5A49-9011-8F4B-9515-DD1A0B272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35052F-D260-1F89-2116-142776C91A66}"/>
              </a:ext>
            </a:extLst>
          </p:cNvPr>
          <p:cNvSpPr txBox="1"/>
          <p:nvPr/>
        </p:nvSpPr>
        <p:spPr>
          <a:xfrm>
            <a:off x="347472" y="164592"/>
            <a:ext cx="6942926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 i="1" dirty="0">
                <a:latin typeface="Times New Roman"/>
              </a:rPr>
              <a:t>Partial Results and Analysis</a:t>
            </a:r>
            <a:r>
              <a:rPr lang="en-IN" sz="2700" b="1" i="1" dirty="0">
                <a:latin typeface="Times New Roman"/>
              </a:rPr>
              <a:t> – Reference model</a:t>
            </a:r>
            <a:endParaRPr sz="2700" b="1" i="1" dirty="0">
              <a:latin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BDDE31-9D8B-A81F-DCF5-C195FD78457E}"/>
              </a:ext>
            </a:extLst>
          </p:cNvPr>
          <p:cNvSpPr txBox="1"/>
          <p:nvPr/>
        </p:nvSpPr>
        <p:spPr>
          <a:xfrm>
            <a:off x="594360" y="6510528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87878"/>
                </a:solidFill>
                <a:latin typeface="Arial"/>
              </a:rPr>
              <a:t>24/09/2026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52CAA1-1134-6358-D0CC-A75A68E704DE}"/>
              </a:ext>
            </a:extLst>
          </p:cNvPr>
          <p:cNvSpPr txBox="1"/>
          <p:nvPr/>
        </p:nvSpPr>
        <p:spPr>
          <a:xfrm>
            <a:off x="11292840" y="6510528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87878"/>
                </a:solidFill>
                <a:latin typeface="Arial"/>
              </a:rPr>
              <a:t>15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6A5BC54-C3A4-EC05-430F-5B70E9D8988B}"/>
              </a:ext>
            </a:extLst>
          </p:cNvPr>
          <p:cNvSpPr txBox="1"/>
          <p:nvPr/>
        </p:nvSpPr>
        <p:spPr>
          <a:xfrm>
            <a:off x="347472" y="1190374"/>
            <a:ext cx="5512554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Beamforming Weights:</a:t>
            </a:r>
            <a:br>
              <a:rPr lang="en-IN" sz="2000" dirty="0"/>
            </a:br>
            <a:r>
              <a:rPr lang="en-IN" sz="2000" dirty="0"/>
              <a:t>w0 = +0.2500 +0.0000j</a:t>
            </a:r>
            <a:br>
              <a:rPr lang="en-IN" sz="2000" dirty="0"/>
            </a:br>
            <a:r>
              <a:rPr lang="en-IN" sz="2000" dirty="0"/>
              <a:t>w1 = +0.0000 -0.2500j</a:t>
            </a:r>
            <a:br>
              <a:rPr lang="en-IN" sz="2000" dirty="0"/>
            </a:br>
            <a:r>
              <a:rPr lang="en-IN" sz="2000" dirty="0"/>
              <a:t>w2 = -0.2500 -0.0000j</a:t>
            </a:r>
            <a:br>
              <a:rPr lang="en-IN" sz="2000" dirty="0"/>
            </a:br>
            <a:r>
              <a:rPr lang="en-IN" sz="2000" dirty="0"/>
              <a:t>w3 = -0.0000 +0.2500j</a:t>
            </a:r>
          </a:p>
          <a:p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Received Channel Phases:</a:t>
            </a:r>
            <a:br>
              <a:rPr lang="en-IN" sz="2000" dirty="0"/>
            </a:br>
            <a:r>
              <a:rPr lang="en-IN" sz="2000" dirty="0"/>
              <a:t>Channel 0 : 0.00 degrees</a:t>
            </a:r>
            <a:br>
              <a:rPr lang="en-IN" sz="2000" dirty="0"/>
            </a:br>
            <a:r>
              <a:rPr lang="en-IN" sz="2000" dirty="0"/>
              <a:t>Channel 1 : -90.00 degrees</a:t>
            </a:r>
            <a:br>
              <a:rPr lang="en-IN" sz="2000" dirty="0"/>
            </a:br>
            <a:r>
              <a:rPr lang="en-IN" sz="2000" dirty="0"/>
              <a:t>Channel 2 : -180.00 degrees</a:t>
            </a:r>
            <a:br>
              <a:rPr lang="en-IN" sz="2000" dirty="0"/>
            </a:br>
            <a:r>
              <a:rPr lang="en-IN" sz="2000" dirty="0"/>
              <a:t>Channel 3 : -270.00 degrees</a:t>
            </a:r>
          </a:p>
          <a:p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Maximum beamforming error = </a:t>
            </a:r>
            <a:r>
              <a:rPr lang="en-IN" sz="2000" dirty="0"/>
              <a:t>1.110223e-16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6DFB13-AFE7-4AF2-D408-FA138CACB3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148" y="977944"/>
            <a:ext cx="5349732" cy="4518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0390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503C4-F5EE-36DB-212F-2A730563E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D9B0E34-2A09-8BC2-F4B3-EEFD371B1CDD}"/>
              </a:ext>
            </a:extLst>
          </p:cNvPr>
          <p:cNvSpPr txBox="1"/>
          <p:nvPr/>
        </p:nvSpPr>
        <p:spPr>
          <a:xfrm>
            <a:off x="347472" y="164592"/>
            <a:ext cx="6942926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 i="1" dirty="0">
                <a:latin typeface="Times New Roman"/>
              </a:rPr>
              <a:t>Partial Results and Analysis</a:t>
            </a:r>
            <a:r>
              <a:rPr lang="en-IN" sz="2700" b="1" i="1" dirty="0">
                <a:latin typeface="Times New Roman"/>
              </a:rPr>
              <a:t> – Reference model</a:t>
            </a:r>
            <a:endParaRPr sz="2700" b="1" i="1" dirty="0">
              <a:latin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B14C07-B2CA-E42D-5EEF-D90D99DA1C8C}"/>
              </a:ext>
            </a:extLst>
          </p:cNvPr>
          <p:cNvSpPr txBox="1"/>
          <p:nvPr/>
        </p:nvSpPr>
        <p:spPr>
          <a:xfrm>
            <a:off x="594360" y="6510528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87878"/>
                </a:solidFill>
                <a:latin typeface="Arial"/>
              </a:rPr>
              <a:t>24/09/2026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360778-6CDC-DCCE-E3D9-CCB0F1952DB3}"/>
              </a:ext>
            </a:extLst>
          </p:cNvPr>
          <p:cNvSpPr txBox="1"/>
          <p:nvPr/>
        </p:nvSpPr>
        <p:spPr>
          <a:xfrm>
            <a:off x="11292840" y="6510528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87878"/>
                </a:solidFill>
                <a:latin typeface="Arial"/>
              </a:rPr>
              <a:t>15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9F5537D-B98F-9F77-9674-2DA028CDC8BA}"/>
              </a:ext>
            </a:extLst>
          </p:cNvPr>
          <p:cNvSpPr txBox="1"/>
          <p:nvPr/>
        </p:nvSpPr>
        <p:spPr>
          <a:xfrm>
            <a:off x="347472" y="1221596"/>
            <a:ext cx="5512554" cy="4739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CONVENTIONAL BF vs MVDR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b="1" i="1" dirty="0"/>
          </a:p>
          <a:p>
            <a:r>
              <a:rPr lang="en-IN" b="1" i="1" dirty="0"/>
              <a:t>Conventional Beamformer: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i="1" dirty="0"/>
              <a:t>Desired Power </a:t>
            </a:r>
            <a:r>
              <a:rPr lang="en-IN" dirty="0"/>
              <a:t>: 1.000000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i="1" dirty="0"/>
              <a:t>Interference Power </a:t>
            </a:r>
            <a:r>
              <a:rPr lang="en-IN" dirty="0"/>
              <a:t>: 0.046648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i="1" dirty="0"/>
              <a:t>Noise Power : </a:t>
            </a:r>
            <a:r>
              <a:rPr lang="en-IN" dirty="0"/>
              <a:t>0.26893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i="1" dirty="0"/>
              <a:t>Output SINR : </a:t>
            </a:r>
            <a:r>
              <a:rPr lang="en-IN" dirty="0"/>
              <a:t>5.01 dB</a:t>
            </a:r>
          </a:p>
          <a:p>
            <a:endParaRPr lang="en-IN" dirty="0"/>
          </a:p>
          <a:p>
            <a:r>
              <a:rPr lang="en-IN" b="1" i="1" dirty="0"/>
              <a:t>MVDR Beamformer: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i="1" dirty="0"/>
              <a:t>Desired Power </a:t>
            </a:r>
            <a:r>
              <a:rPr lang="en-IN" dirty="0"/>
              <a:t>: 1.000000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i="1" dirty="0"/>
              <a:t>Interference Power </a:t>
            </a:r>
            <a:r>
              <a:rPr lang="en-IN" dirty="0"/>
              <a:t>: 0.000570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i="1" dirty="0"/>
              <a:t>Noise Power : </a:t>
            </a:r>
            <a:r>
              <a:rPr lang="en-IN" dirty="0"/>
              <a:t>0.281388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i="1" dirty="0"/>
              <a:t>Output SINR</a:t>
            </a:r>
            <a:r>
              <a:rPr lang="en-IN" dirty="0"/>
              <a:t> : 5.50 dB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i="1" dirty="0"/>
              <a:t>MVDR SINR improvement: </a:t>
            </a:r>
            <a:r>
              <a:rPr lang="en-IN" dirty="0"/>
              <a:t>0.49 dB</a:t>
            </a:r>
            <a:br>
              <a:rPr lang="en-IN" sz="2000" dirty="0"/>
            </a:br>
            <a:endParaRPr lang="en-IN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E16DFA-0283-E03D-BAA7-452803C917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653" y="998942"/>
            <a:ext cx="5219208" cy="4982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0330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7203B-1E7E-E41D-6791-A5A0D570B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DE7126-23B4-107B-9D30-C71BFB706638}"/>
              </a:ext>
            </a:extLst>
          </p:cNvPr>
          <p:cNvSpPr txBox="1"/>
          <p:nvPr/>
        </p:nvSpPr>
        <p:spPr>
          <a:xfrm>
            <a:off x="347472" y="164592"/>
            <a:ext cx="6942926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 i="1" dirty="0">
                <a:latin typeface="Times New Roman"/>
              </a:rPr>
              <a:t>Partial Results and Analysis</a:t>
            </a:r>
            <a:r>
              <a:rPr lang="en-IN" sz="2700" b="1" i="1" dirty="0">
                <a:latin typeface="Times New Roman"/>
              </a:rPr>
              <a:t> – Reference model</a:t>
            </a:r>
            <a:endParaRPr sz="2700" b="1" i="1" dirty="0">
              <a:latin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272F6F-8767-BDDA-1F9D-53851E2794A2}"/>
              </a:ext>
            </a:extLst>
          </p:cNvPr>
          <p:cNvSpPr txBox="1"/>
          <p:nvPr/>
        </p:nvSpPr>
        <p:spPr>
          <a:xfrm>
            <a:off x="594360" y="6510528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87878"/>
                </a:solidFill>
                <a:latin typeface="Arial"/>
              </a:rPr>
              <a:t>24/09/2026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4F9A03-628C-03BF-39ED-57CF0179ED3F}"/>
              </a:ext>
            </a:extLst>
          </p:cNvPr>
          <p:cNvSpPr txBox="1"/>
          <p:nvPr/>
        </p:nvSpPr>
        <p:spPr>
          <a:xfrm>
            <a:off x="11292840" y="6510528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87878"/>
                </a:solidFill>
                <a:latin typeface="Arial"/>
              </a:rPr>
              <a:t>15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CE5B746-BF9E-FBC5-227F-A415B18DD2AF}"/>
              </a:ext>
            </a:extLst>
          </p:cNvPr>
          <p:cNvSpPr txBox="1"/>
          <p:nvPr/>
        </p:nvSpPr>
        <p:spPr>
          <a:xfrm>
            <a:off x="471949" y="1213207"/>
            <a:ext cx="5512554" cy="495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ACCUMULATOR RANGE ANALYSIS</a:t>
            </a:r>
          </a:p>
          <a:p>
            <a:endParaRPr lang="en-IN" b="1" dirty="0"/>
          </a:p>
          <a:p>
            <a:r>
              <a:rPr lang="en-IN" b="1" dirty="0"/>
              <a:t>26-bit signed range: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i="1" dirty="0"/>
              <a:t>Minimum = -33554432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i="1" dirty="0"/>
              <a:t>Maximum = 33554431</a:t>
            </a:r>
          </a:p>
          <a:p>
            <a:endParaRPr lang="en-IN" dirty="0"/>
          </a:p>
          <a:p>
            <a:r>
              <a:rPr lang="en-IN" b="1" dirty="0"/>
              <a:t>Actual accumulator range: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i="1" dirty="0"/>
              <a:t>I minimum = -1913344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i="1" dirty="0"/>
              <a:t>I maximum = 1734144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i="1" dirty="0"/>
              <a:t>Q minimum = -2048000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i="1" dirty="0"/>
              <a:t>Q maximum = 1886720</a:t>
            </a:r>
          </a:p>
          <a:p>
            <a:endParaRPr lang="en-IN" dirty="0"/>
          </a:p>
          <a:p>
            <a:r>
              <a:rPr lang="en-IN" b="1" dirty="0"/>
              <a:t>Overflow check: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i="1" dirty="0"/>
              <a:t>I accumulator: SAFE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i="1" dirty="0"/>
              <a:t>Q accumulator: SAFE</a:t>
            </a:r>
          </a:p>
          <a:p>
            <a:br>
              <a:rPr lang="en-IN" sz="2000" dirty="0"/>
            </a:b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560190-FF8C-3FD3-7CFE-A4D2DDA479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7499" y="1213207"/>
            <a:ext cx="5592834" cy="4497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1948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50F2E-C9AE-B9EF-0983-69C43DE9D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526E9C-EFCA-5291-DAE3-3E124B77348F}"/>
              </a:ext>
            </a:extLst>
          </p:cNvPr>
          <p:cNvSpPr txBox="1"/>
          <p:nvPr/>
        </p:nvSpPr>
        <p:spPr>
          <a:xfrm>
            <a:off x="347472" y="164592"/>
            <a:ext cx="8686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 i="1">
                <a:latin typeface="Times New Roman"/>
              </a:rPr>
              <a:t>Partial Results and Analysis – Beamforming Response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180D7B-3DCE-1082-54DA-AD401FACF29F}"/>
              </a:ext>
            </a:extLst>
          </p:cNvPr>
          <p:cNvSpPr txBox="1"/>
          <p:nvPr/>
        </p:nvSpPr>
        <p:spPr>
          <a:xfrm>
            <a:off x="1125472" y="5807459"/>
            <a:ext cx="3565400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IN" sz="1100" b="1" dirty="0">
                <a:latin typeface="Arial"/>
              </a:rPr>
              <a:t>Beamforming weights for 30 degree desired signal</a:t>
            </a:r>
            <a:endParaRPr sz="1100" b="1" dirty="0">
              <a:latin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52CBDE-9E6A-2BBE-6001-701406D5EAE6}"/>
              </a:ext>
            </a:extLst>
          </p:cNvPr>
          <p:cNvSpPr txBox="1"/>
          <p:nvPr/>
        </p:nvSpPr>
        <p:spPr>
          <a:xfrm>
            <a:off x="8479472" y="5807459"/>
            <a:ext cx="1109599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IN" sz="1100" b="1" dirty="0">
                <a:latin typeface="Arial"/>
              </a:rPr>
              <a:t>Weight Phase</a:t>
            </a:r>
            <a:endParaRPr sz="1100" b="1" dirty="0">
              <a:latin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93A145-ABE6-29E5-5814-3E2830907FD3}"/>
              </a:ext>
            </a:extLst>
          </p:cNvPr>
          <p:cNvSpPr txBox="1"/>
          <p:nvPr/>
        </p:nvSpPr>
        <p:spPr>
          <a:xfrm>
            <a:off x="594360" y="6510528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87878"/>
                </a:solidFill>
                <a:latin typeface="Arial"/>
              </a:rPr>
              <a:t>24/09/2026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55891E-2E6D-CA1F-1AD3-7196D5C3C99B}"/>
              </a:ext>
            </a:extLst>
          </p:cNvPr>
          <p:cNvSpPr txBox="1"/>
          <p:nvPr/>
        </p:nvSpPr>
        <p:spPr>
          <a:xfrm>
            <a:off x="11292840" y="6510528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87878"/>
                </a:solidFill>
                <a:latin typeface="Arial"/>
              </a:rPr>
              <a:t>15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20E81B4-C8B3-EBDC-8BE0-B2C8F6D7A1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917905"/>
            <a:ext cx="5296244" cy="456849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DE2B4DB-3513-DB9F-1C91-CC50C440A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917905"/>
            <a:ext cx="5773534" cy="4568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9475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1174F-499B-95F4-3DBA-7B511AC85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DCC79B6-CF94-09BE-5D0F-859DDB8750CF}"/>
              </a:ext>
            </a:extLst>
          </p:cNvPr>
          <p:cNvSpPr txBox="1"/>
          <p:nvPr/>
        </p:nvSpPr>
        <p:spPr>
          <a:xfrm>
            <a:off x="347472" y="164592"/>
            <a:ext cx="8686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 i="1">
                <a:latin typeface="Times New Roman"/>
              </a:rPr>
              <a:t>Partial Results and Analysis – Beamforming Response</a:t>
            </a:r>
          </a:p>
        </p:txBody>
      </p:sp>
      <p:pic>
        <p:nvPicPr>
          <p:cNvPr id="4" name="Picture 3" descr="cbf_interferer.png">
            <a:extLst>
              <a:ext uri="{FF2B5EF4-FFF2-40B4-BE49-F238E27FC236}">
                <a16:creationId xmlns:a16="http://schemas.microsoft.com/office/drawing/2014/main" id="{43ED2F84-2A4D-8BE7-EB30-29A80F2E67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24128"/>
            <a:ext cx="5532120" cy="2606040"/>
          </a:xfrm>
          <a:prstGeom prst="rect">
            <a:avLst/>
          </a:prstGeom>
        </p:spPr>
      </p:pic>
      <p:pic>
        <p:nvPicPr>
          <p:cNvPr id="5" name="Picture 4" descr="signal_recovery.png">
            <a:extLst>
              <a:ext uri="{FF2B5EF4-FFF2-40B4-BE49-F238E27FC236}">
                <a16:creationId xmlns:a16="http://schemas.microsoft.com/office/drawing/2014/main" id="{5A52ECDF-CA22-A563-07AE-11BF2BB265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024128"/>
            <a:ext cx="5440680" cy="26060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418A9F4-FFA3-DCA5-3A2E-3840304D72CE}"/>
              </a:ext>
            </a:extLst>
          </p:cNvPr>
          <p:cNvSpPr txBox="1"/>
          <p:nvPr/>
        </p:nvSpPr>
        <p:spPr>
          <a:xfrm>
            <a:off x="594360" y="361188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latin typeface="Arial"/>
              </a:rPr>
              <a:t>Conventional Beamformer with Desired Signal at +30° and Interferer at −20°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7FF722-2B49-215D-80E1-781D138BECFF}"/>
              </a:ext>
            </a:extLst>
          </p:cNvPr>
          <p:cNvSpPr txBox="1"/>
          <p:nvPr/>
        </p:nvSpPr>
        <p:spPr>
          <a:xfrm>
            <a:off x="6309360" y="361188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latin typeface="Arial"/>
              </a:rPr>
              <a:t>Clean Signal vs Noisy Input vs Beamformed Output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E3A5BA7-B6F6-FB5D-A730-C9728F9957F4}"/>
              </a:ext>
            </a:extLst>
          </p:cNvPr>
          <p:cNvSpPr/>
          <p:nvPr/>
        </p:nvSpPr>
        <p:spPr>
          <a:xfrm>
            <a:off x="685800" y="4267200"/>
            <a:ext cx="10881360" cy="1767840"/>
          </a:xfrm>
          <a:prstGeom prst="roundRect">
            <a:avLst>
              <a:gd name="adj" fmla="val 0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500" b="1" dirty="0">
                <a:solidFill>
                  <a:srgbClr val="141414"/>
                </a:solidFill>
                <a:latin typeface="Arial"/>
              </a:rPr>
              <a:t>Analysis</a:t>
            </a:r>
            <a:endParaRPr lang="en-IN" sz="1500" b="1" dirty="0">
              <a:solidFill>
                <a:srgbClr val="141414"/>
              </a:solidFill>
              <a:latin typeface="Arial"/>
            </a:endParaRPr>
          </a:p>
          <a:p>
            <a:pPr algn="ctr"/>
            <a:endParaRPr sz="1500" b="1" dirty="0">
              <a:solidFill>
                <a:srgbClr val="141414"/>
              </a:solidFill>
              <a:latin typeface="Arial"/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1100">
                <a:latin typeface="Arial"/>
              </a:defRPr>
            </a:pPr>
            <a:r>
              <a:rPr sz="14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conventional beamformer preserves the main beam toward the desired +30° direction.</a:t>
            </a:r>
            <a:endParaRPr lang="en-IN" sz="1400" dirty="0">
              <a:solidFill>
                <a:srgbClr val="1414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100">
                <a:latin typeface="Arial"/>
              </a:defRPr>
            </a:pPr>
            <a:endParaRPr sz="1400" dirty="0">
              <a:solidFill>
                <a:srgbClr val="1414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1100">
                <a:latin typeface="Arial"/>
              </a:defRPr>
            </a:pPr>
            <a:r>
              <a:rPr sz="14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−20° interferer is not explicitly nulled by CBF, motivating adaptive/constrained beamforming.</a:t>
            </a:r>
            <a:endParaRPr lang="en-IN" sz="1400" dirty="0">
              <a:solidFill>
                <a:srgbClr val="1414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100">
                <a:latin typeface="Arial"/>
              </a:defRPr>
            </a:pPr>
            <a:endParaRPr sz="1400" dirty="0">
              <a:solidFill>
                <a:srgbClr val="1414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1100">
                <a:latin typeface="Arial"/>
              </a:defRPr>
            </a:pPr>
            <a:r>
              <a:rPr sz="14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beamformed waveform follows the clean signal more closely than the raw noisy channel, confirming signal recovery</a:t>
            </a:r>
            <a:r>
              <a:rPr dirty="0">
                <a:solidFill>
                  <a:srgbClr val="141414"/>
                </a:solidFill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FE91DD-329D-79A0-28BD-742F6B0F97A0}"/>
              </a:ext>
            </a:extLst>
          </p:cNvPr>
          <p:cNvSpPr txBox="1"/>
          <p:nvPr/>
        </p:nvSpPr>
        <p:spPr>
          <a:xfrm>
            <a:off x="594360" y="6510528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87878"/>
                </a:solidFill>
                <a:latin typeface="Arial"/>
              </a:rPr>
              <a:t>24/09/2026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B3BD84-6B1E-6D49-9C70-60740EC6356C}"/>
              </a:ext>
            </a:extLst>
          </p:cNvPr>
          <p:cNvSpPr txBox="1"/>
          <p:nvPr/>
        </p:nvSpPr>
        <p:spPr>
          <a:xfrm>
            <a:off x="11292840" y="6510528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87878"/>
                </a:solidFill>
                <a:latin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7002251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472" y="164592"/>
            <a:ext cx="8686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 i="1">
                <a:latin typeface="Times New Roman"/>
              </a:rPr>
              <a:t>Partial Results and Analysis – CBF, MVDR and LCMV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6976644"/>
              </p:ext>
            </p:extLst>
          </p:nvPr>
        </p:nvGraphicFramePr>
        <p:xfrm>
          <a:off x="7452360" y="1143000"/>
          <a:ext cx="4069080" cy="2057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100" b="1"/>
                        <a:t>Algorithm</a:t>
                      </a:r>
                      <a:endParaRPr sz="1100" b="1"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/>
                        <a:t>Output SINR</a:t>
                      </a:r>
                      <a:endParaRPr sz="1100" b="1"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/>
                        <a:t>vs CBF</a:t>
                      </a:r>
                      <a:endParaRPr sz="1100" b="1">
                        <a:latin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100" dirty="0"/>
                        <a:t>CBF</a:t>
                      </a:r>
                      <a:endParaRPr sz="1100" dirty="0"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5.42 dB</a:t>
                      </a:r>
                      <a:endParaRPr sz="1100"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Baseline</a:t>
                      </a:r>
                      <a:endParaRPr sz="1100">
                        <a:latin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MVDR</a:t>
                      </a:r>
                      <a:endParaRPr sz="1100"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5.44 dB</a:t>
                      </a:r>
                      <a:endParaRPr sz="1100"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+0.02 dB</a:t>
                      </a:r>
                      <a:endParaRPr sz="1100">
                        <a:latin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LCMV</a:t>
                      </a:r>
                      <a:endParaRPr sz="1100"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6.09 dB</a:t>
                      </a:r>
                      <a:endParaRPr sz="1100"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/>
                        <a:t>+0.67 dB</a:t>
                      </a:r>
                      <a:endParaRPr sz="1100" dirty="0">
                        <a:latin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452360" y="3474720"/>
            <a:ext cx="4069080" cy="3035808"/>
          </a:xfrm>
          <a:prstGeom prst="roundRect">
            <a:avLst>
              <a:gd name="adj" fmla="val 0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600" b="1" dirty="0">
                <a:solidFill>
                  <a:srgbClr val="141414"/>
                </a:solidFill>
                <a:latin typeface="Arial"/>
              </a:rPr>
              <a:t>Key Result</a:t>
            </a:r>
            <a:endParaRPr lang="en-IN" sz="1600" b="1" dirty="0">
              <a:solidFill>
                <a:srgbClr val="141414"/>
              </a:solidFill>
              <a:latin typeface="Arial"/>
            </a:endParaRPr>
          </a:p>
          <a:p>
            <a:pPr algn="ctr"/>
            <a:endParaRPr sz="1600" dirty="0">
              <a:solidFill>
                <a:srgbClr val="1414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1100">
                <a:latin typeface="Arial"/>
              </a:defRPr>
            </a:pPr>
            <a:r>
              <a:rPr sz="12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three algorithms preserve the desired +30° response.</a:t>
            </a:r>
            <a:endParaRPr lang="en-IN" sz="1200" dirty="0">
              <a:solidFill>
                <a:srgbClr val="1414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100">
                <a:latin typeface="Arial"/>
              </a:defRPr>
            </a:pPr>
            <a:endParaRPr sz="1200" dirty="0">
              <a:solidFill>
                <a:srgbClr val="1414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1100">
                <a:latin typeface="Arial"/>
              </a:defRPr>
            </a:pPr>
            <a:r>
              <a:rPr sz="12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LCMV gives the strongest explicit suppression around the known −20° interferer.</a:t>
            </a:r>
            <a:endParaRPr lang="en-IN" sz="1200" dirty="0">
              <a:solidFill>
                <a:srgbClr val="1414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100">
                <a:latin typeface="Arial"/>
              </a:defRPr>
            </a:pPr>
            <a:endParaRPr sz="1200" dirty="0">
              <a:solidFill>
                <a:srgbClr val="1414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1100">
                <a:latin typeface="Arial"/>
              </a:defRPr>
            </a:pPr>
            <a:r>
              <a:rPr sz="12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the tested case, LCMV improves SINR by 0.67 dB over CBF; MVDR improves it by 0.02 </a:t>
            </a:r>
            <a:r>
              <a:rPr sz="1200" dirty="0" err="1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dB.</a:t>
            </a:r>
            <a:endParaRPr lang="en-IN" sz="1200" dirty="0">
              <a:solidFill>
                <a:srgbClr val="1414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100">
                <a:latin typeface="Arial"/>
              </a:defRPr>
            </a:pPr>
            <a:endParaRPr sz="1200" dirty="0">
              <a:solidFill>
                <a:srgbClr val="1414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1100">
                <a:latin typeface="Arial"/>
              </a:defRPr>
            </a:pPr>
            <a:r>
              <a:rPr sz="12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CBF remains the simpler</a:t>
            </a:r>
            <a:r>
              <a:rPr lang="en-IN" sz="12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12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first RTL </a:t>
            </a:r>
            <a:r>
              <a:rPr sz="1200" dirty="0" err="1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datapath</a:t>
            </a:r>
            <a:r>
              <a:rPr sz="12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adaptive methods are used as algorithmic references</a:t>
            </a:r>
            <a:r>
              <a:rPr sz="1200" b="1" dirty="0">
                <a:solidFill>
                  <a:srgbClr val="141414"/>
                </a:solidFill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87878"/>
                </a:solidFill>
                <a:latin typeface="Arial"/>
              </a:rPr>
              <a:t>24/09/2026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87878"/>
                </a:solidFill>
                <a:latin typeface="Arial"/>
              </a:rPr>
              <a:t>16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E23C2B-9085-0FE7-29B2-44A3B5DBDE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19" y="997803"/>
            <a:ext cx="7010400" cy="48917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472" y="164592"/>
            <a:ext cx="8686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 i="1">
                <a:latin typeface="Times New Roman"/>
              </a:rPr>
              <a:t>Partial Results and Analysis – Fixed-Point Verification</a:t>
            </a:r>
          </a:p>
        </p:txBody>
      </p:sp>
      <p:pic>
        <p:nvPicPr>
          <p:cNvPr id="4" name="Picture 3" descr="precision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919401"/>
            <a:ext cx="5669280" cy="32461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720840" y="996696"/>
            <a:ext cx="4892040" cy="1234440"/>
          </a:xfrm>
          <a:prstGeom prst="roundRect">
            <a:avLst>
              <a:gd name="adj" fmla="val 0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500" b="1" dirty="0">
                <a:solidFill>
                  <a:srgbClr val="141414"/>
                </a:solidFill>
                <a:latin typeface="Arial"/>
              </a:rPr>
              <a:t>Bit-Accurate Verification</a:t>
            </a:r>
          </a:p>
          <a:p>
            <a:pPr>
              <a:defRPr sz="1100">
                <a:latin typeface="Arial"/>
              </a:defRPr>
            </a:pPr>
            <a:endParaRPr lang="en-IN" dirty="0">
              <a:solidFill>
                <a:srgbClr val="141414"/>
              </a:solidFill>
            </a:endParaRPr>
          </a:p>
          <a:p>
            <a:pPr>
              <a:defRPr sz="1100">
                <a:latin typeface="Arial"/>
              </a:defRPr>
            </a:pPr>
            <a:r>
              <a:rPr b="1" dirty="0">
                <a:solidFill>
                  <a:srgbClr val="141414"/>
                </a:solidFill>
              </a:rPr>
              <a:t>RMS error </a:t>
            </a:r>
            <a:r>
              <a:rPr dirty="0">
                <a:solidFill>
                  <a:srgbClr val="141414"/>
                </a:solidFill>
              </a:rPr>
              <a:t>= 3.841 × 10⁻⁴</a:t>
            </a:r>
          </a:p>
          <a:p>
            <a:pPr>
              <a:defRPr sz="1100">
                <a:latin typeface="Arial"/>
              </a:defRPr>
            </a:pPr>
            <a:r>
              <a:rPr b="1" dirty="0">
                <a:solidFill>
                  <a:srgbClr val="141414"/>
                </a:solidFill>
              </a:rPr>
              <a:t>Error SNR </a:t>
            </a:r>
            <a:r>
              <a:rPr dirty="0">
                <a:solidFill>
                  <a:srgbClr val="141414"/>
                </a:solidFill>
              </a:rPr>
              <a:t>= 69.46 dB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20840" y="2880359"/>
            <a:ext cx="4892040" cy="1234440"/>
          </a:xfrm>
          <a:prstGeom prst="roundRect">
            <a:avLst>
              <a:gd name="adj" fmla="val 0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500" b="1" dirty="0">
                <a:solidFill>
                  <a:srgbClr val="141414"/>
                </a:solidFill>
                <a:latin typeface="Arial"/>
              </a:rPr>
              <a:t>Rounding vs Truncation</a:t>
            </a:r>
          </a:p>
          <a:p>
            <a:pPr>
              <a:defRPr sz="1100">
                <a:latin typeface="Arial"/>
              </a:defRPr>
            </a:pPr>
            <a:endParaRPr lang="en-IN" dirty="0">
              <a:solidFill>
                <a:srgbClr val="141414"/>
              </a:solidFill>
            </a:endParaRPr>
          </a:p>
          <a:p>
            <a:pPr>
              <a:defRPr sz="1100">
                <a:latin typeface="Arial"/>
              </a:defRPr>
            </a:pPr>
            <a:r>
              <a:rPr b="1" dirty="0">
                <a:solidFill>
                  <a:srgbClr val="141414"/>
                </a:solidFill>
              </a:rPr>
              <a:t>Rounding: </a:t>
            </a:r>
            <a:r>
              <a:rPr dirty="0">
                <a:solidFill>
                  <a:srgbClr val="141414"/>
                </a:solidFill>
              </a:rPr>
              <a:t>61.45 dB</a:t>
            </a:r>
          </a:p>
          <a:p>
            <a:pPr>
              <a:defRPr sz="1100">
                <a:latin typeface="Arial"/>
              </a:defRPr>
            </a:pPr>
            <a:r>
              <a:rPr b="1" dirty="0">
                <a:solidFill>
                  <a:srgbClr val="141414"/>
                </a:solidFill>
              </a:rPr>
              <a:t>Truncation:</a:t>
            </a:r>
            <a:r>
              <a:rPr dirty="0">
                <a:solidFill>
                  <a:srgbClr val="141414"/>
                </a:solidFill>
              </a:rPr>
              <a:t> 58.15 dB  →  +3.30 dB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20840" y="4695443"/>
            <a:ext cx="4892040" cy="1234440"/>
          </a:xfrm>
          <a:prstGeom prst="roundRect">
            <a:avLst>
              <a:gd name="adj" fmla="val 0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500" b="1" dirty="0">
                <a:solidFill>
                  <a:srgbClr val="141414"/>
                </a:solidFill>
                <a:latin typeface="Arial"/>
              </a:rPr>
              <a:t>Overflow Handling</a:t>
            </a:r>
          </a:p>
          <a:p>
            <a:pPr>
              <a:defRPr sz="1100">
                <a:latin typeface="Arial"/>
              </a:defRPr>
            </a:pPr>
            <a:endParaRPr lang="en-IN" dirty="0">
              <a:solidFill>
                <a:srgbClr val="141414"/>
              </a:solidFill>
            </a:endParaRPr>
          </a:p>
          <a:p>
            <a:pPr>
              <a:defRPr sz="1100">
                <a:latin typeface="Arial"/>
              </a:defRPr>
            </a:pPr>
            <a:r>
              <a:rPr b="1" dirty="0">
                <a:solidFill>
                  <a:srgbClr val="141414"/>
                </a:solidFill>
              </a:rPr>
              <a:t>Saturation RMS error </a:t>
            </a:r>
            <a:r>
              <a:rPr dirty="0">
                <a:solidFill>
                  <a:srgbClr val="141414"/>
                </a:solidFill>
              </a:rPr>
              <a:t>= 0.2815</a:t>
            </a:r>
          </a:p>
          <a:p>
            <a:pPr>
              <a:defRPr sz="1100">
                <a:latin typeface="Arial"/>
              </a:defRPr>
            </a:pPr>
            <a:r>
              <a:rPr b="1" dirty="0">
                <a:solidFill>
                  <a:srgbClr val="141414"/>
                </a:solidFill>
              </a:rPr>
              <a:t>Wrap-around RMS error </a:t>
            </a:r>
            <a:r>
              <a:rPr dirty="0">
                <a:solidFill>
                  <a:srgbClr val="141414"/>
                </a:solidFill>
              </a:rPr>
              <a:t>= 2.9932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962" y="4503420"/>
            <a:ext cx="2819746" cy="18466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 dirty="0">
                <a:latin typeface="Arial"/>
              </a:rPr>
              <a:t>Selected RTL Specification</a:t>
            </a:r>
            <a:r>
              <a:rPr lang="en-IN" sz="1500" b="1" dirty="0">
                <a:latin typeface="Arial"/>
              </a:rPr>
              <a:t>s:</a:t>
            </a:r>
          </a:p>
          <a:p>
            <a:endParaRPr lang="en-IN" sz="1500" b="1" dirty="0">
              <a:latin typeface="Arial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sz="1400" dirty="0">
                <a:latin typeface="Arial"/>
              </a:rPr>
              <a:t>Input: 12-bit Q3.9  |  </a:t>
            </a:r>
            <a:endParaRPr lang="en-IN" sz="1400" dirty="0">
              <a:latin typeface="Arial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sz="1400" dirty="0">
                <a:latin typeface="Arial"/>
              </a:rPr>
              <a:t>Weights: 12-bit Q1.11  |  </a:t>
            </a:r>
            <a:endParaRPr lang="en-IN" sz="1400" dirty="0">
              <a:latin typeface="Arial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sz="1400" dirty="0">
                <a:latin typeface="Arial"/>
              </a:rPr>
              <a:t>Product: 24-bit Q4.20</a:t>
            </a:r>
            <a:endParaRPr lang="en-IN" sz="1400" dirty="0">
              <a:latin typeface="Arial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sz="1400" dirty="0">
                <a:latin typeface="Arial"/>
              </a:rPr>
              <a:t>Accumulator: 26-bit Q6.20  |  </a:t>
            </a:r>
            <a:endParaRPr lang="en-IN" sz="1400" dirty="0">
              <a:latin typeface="Arial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sz="1400" dirty="0">
                <a:latin typeface="Arial"/>
              </a:rPr>
              <a:t>Output: 12-bit Q3.9  |  </a:t>
            </a:r>
            <a:endParaRPr lang="en-IN" sz="1400" dirty="0">
              <a:latin typeface="Arial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sz="1400" dirty="0">
                <a:latin typeface="Arial"/>
              </a:rPr>
              <a:t>Rounding + Saturation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87878"/>
                </a:solidFill>
                <a:latin typeface="Arial"/>
              </a:rPr>
              <a:t>24/09/2026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510528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787878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9B447-E334-FB1C-67A2-2930164ED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59BCB-D905-63C9-1286-C8486B662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929" y="250431"/>
            <a:ext cx="10515600" cy="728179"/>
          </a:xfrm>
        </p:spPr>
        <p:txBody>
          <a:bodyPr>
            <a:normAutofit/>
          </a:bodyPr>
          <a:lstStyle/>
          <a:p>
            <a:r>
              <a:rPr lang="en-IN" sz="3600" b="1" i="1">
                <a:latin typeface="Times New Roman"/>
                <a:cs typeface="Times New Roman"/>
              </a:rPr>
              <a:t>Architectural Specifications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7E50CE-3166-53B9-DFA6-3190786A3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900">
                <a:solidFill>
                  <a:srgbClr val="787878"/>
                </a:solidFill>
                <a:latin typeface="Arial"/>
              </a:rPr>
              <a:t>18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D5ADCE6-F07A-30EC-4868-46DFF2539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9E4EE-F6D2-42F8-A936-D416401A206F}" type="datetime1">
              <a:rPr lang="en-IN" smtClean="0"/>
              <a:t>27-09-2026</a:t>
            </a:fld>
            <a:endParaRPr lang="en-IN"/>
          </a:p>
        </p:txBody>
      </p:sp>
      <p:graphicFrame>
        <p:nvGraphicFramePr>
          <p:cNvPr id="13" name="Content Placeholder 12">
            <a:extLst>
              <a:ext uri="{FF2B5EF4-FFF2-40B4-BE49-F238E27FC236}">
                <a16:creationId xmlns:a16="http://schemas.microsoft.com/office/drawing/2014/main" id="{1A6B40DE-273E-A897-1C91-D425D77005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2136875"/>
              </p:ext>
            </p:extLst>
          </p:nvPr>
        </p:nvGraphicFramePr>
        <p:xfrm>
          <a:off x="748929" y="1501042"/>
          <a:ext cx="10694142" cy="4191831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436342">
                  <a:extLst>
                    <a:ext uri="{9D8B030D-6E8A-4147-A177-3AD203B41FA5}">
                      <a16:colId xmlns:a16="http://schemas.microsoft.com/office/drawing/2014/main" val="169710875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00419884"/>
                    </a:ext>
                  </a:extLst>
                </a:gridCol>
              </a:tblGrid>
              <a:tr h="4657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i="1">
                          <a:solidFill>
                            <a:schemeClr val="bg1"/>
                          </a:solidFill>
                        </a:rPr>
                        <a:t>Parameter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i="1">
                          <a:solidFill>
                            <a:schemeClr val="bg1"/>
                          </a:solidFill>
                        </a:rPr>
                        <a:t>Specification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1236034"/>
                  </a:ext>
                </a:extLst>
              </a:tr>
              <a:tr h="4657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i="1"/>
                        <a:t>System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/>
                        <a:t>Digital Beamforming Processor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6963191"/>
                  </a:ext>
                </a:extLst>
              </a:tr>
              <a:tr h="4657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i="1"/>
                        <a:t>Architecture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/>
                        <a:t>4-Channel Uniform Linear Array (ULA)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4914103"/>
                  </a:ext>
                </a:extLst>
              </a:tr>
              <a:tr h="4657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i="1"/>
                        <a:t>Input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/>
                        <a:t>Digital I/Q Samples from 4 Channels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0881853"/>
                  </a:ext>
                </a:extLst>
              </a:tr>
              <a:tr h="4657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i="1"/>
                        <a:t>Beamforming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/>
                        <a:t>Complex-Weighted Signal Combination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7131956"/>
                  </a:ext>
                </a:extLst>
              </a:tr>
              <a:tr h="4657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i="1"/>
                        <a:t>Weight Storage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/>
                        <a:t>Programmable Weight LUT / Memory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5762595"/>
                  </a:ext>
                </a:extLst>
              </a:tr>
              <a:tr h="4657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i="1"/>
                        <a:t>Core Processing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/>
                        <a:t>Per-Channel Complex Multipliers + Adder Tree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352721"/>
                  </a:ext>
                </a:extLst>
              </a:tr>
              <a:tr h="4657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i="1"/>
                        <a:t>Control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/>
                        <a:t>Dedicated Control Unit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9917138"/>
                  </a:ext>
                </a:extLst>
              </a:tr>
              <a:tr h="4657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i="1"/>
                        <a:t>Output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/>
                        <a:t>Beamformed Digital I/Q Signal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0612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20462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89DC5-725B-48E5-6A87-4101BC537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871" y="-94163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b="1" i="1">
                <a:latin typeface="Times New Roman"/>
                <a:cs typeface="Times New Roman"/>
              </a:rPr>
              <a:t>Timeline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A8BD7-CB6A-5B5E-0B90-82BCAA247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3D928-BDD7-4354-9A29-8AD08345FC2F}" type="datetime1">
              <a:rPr lang="en-IN" smtClean="0"/>
              <a:t>27-09-2026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5019BD-061D-A084-B497-8504D05B2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900">
                <a:solidFill>
                  <a:srgbClr val="787878"/>
                </a:solidFill>
                <a:latin typeface="Arial"/>
              </a:rPr>
              <a:t>19</a:t>
            </a:r>
            <a:endParaRPr lang="en-IN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9FB74472-633E-7D4B-6F97-5E9BFB45DD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19955143"/>
              </p:ext>
            </p:extLst>
          </p:nvPr>
        </p:nvGraphicFramePr>
        <p:xfrm>
          <a:off x="452810" y="955233"/>
          <a:ext cx="11286380" cy="540111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43190">
                  <a:extLst>
                    <a:ext uri="{9D8B030D-6E8A-4147-A177-3AD203B41FA5}">
                      <a16:colId xmlns:a16="http://schemas.microsoft.com/office/drawing/2014/main" val="3563551265"/>
                    </a:ext>
                  </a:extLst>
                </a:gridCol>
                <a:gridCol w="5643190">
                  <a:extLst>
                    <a:ext uri="{9D8B030D-6E8A-4147-A177-3AD203B41FA5}">
                      <a16:colId xmlns:a16="http://schemas.microsoft.com/office/drawing/2014/main" val="2319120068"/>
                    </a:ext>
                  </a:extLst>
                </a:gridCol>
              </a:tblGrid>
              <a:tr h="69842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u="none" strike="noStrike" noProof="0">
                          <a:latin typeface="Times New Roman"/>
                          <a:cs typeface="Times New Roman"/>
                        </a:rPr>
                        <a:t>Month</a:t>
                      </a:r>
                      <a:endParaRPr lang="en-US" sz="1800" b="1">
                        <a:latin typeface="Times New Roman"/>
                        <a:cs typeface="Times New Roman"/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u="none" strike="noStrike" noProof="0">
                          <a:latin typeface="Times New Roman"/>
                          <a:cs typeface="Times New Roman"/>
                        </a:rPr>
                        <a:t>Work to be implemented</a:t>
                      </a:r>
                      <a:endParaRPr lang="en-US" sz="1800" b="1">
                        <a:latin typeface="Times New Roman"/>
                        <a:cs typeface="Times New Roman"/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2789344"/>
                  </a:ext>
                </a:extLst>
              </a:tr>
              <a:tr h="113459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1" i="1" u="none" strike="noStrike" noProof="0">
                          <a:latin typeface="Times New Roman"/>
                          <a:cs typeface="Times New Roman"/>
                        </a:rPr>
                        <a:t>July 2026</a:t>
                      </a:r>
                      <a:endParaRPr lang="en-US" sz="1400" b="1" i="1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noProof="0">
                          <a:latin typeface="Times New Roman"/>
                          <a:cs typeface="Times New Roman"/>
                        </a:rPr>
                        <a:t>• Literature survey on digital beamforming processor architectures, low-power ASIC design and Cadence-based RTL to GDSII flows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  <a:p>
                      <a:pPr lvl="0">
                        <a:buNone/>
                      </a:pPr>
                      <a:r>
                        <a:rPr lang="en-US" sz="1400" u="none" strike="noStrike" noProof="0">
                          <a:latin typeface="Times New Roman"/>
                          <a:cs typeface="Times New Roman"/>
                        </a:rPr>
                        <a:t>• Finalization of architecture specification (channel count, bit-widths, weight LUT based steering)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3565458"/>
                  </a:ext>
                </a:extLst>
              </a:tr>
              <a:tr h="73249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1" i="1" u="none" strike="noStrike" noProof="0">
                          <a:latin typeface="Times New Roman"/>
                          <a:cs typeface="Times New Roman"/>
                        </a:rPr>
                        <a:t>August 2026</a:t>
                      </a:r>
                      <a:endParaRPr lang="en-US" sz="1400" b="1" i="1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latin typeface="Times New Roman"/>
                          <a:ea typeface="Calibri"/>
                          <a:cs typeface="Times New Roman"/>
                        </a:rPr>
                        <a:t>• RTL development of channel input interface and per channel complex multiplier module, including the development of weight LUT and the main control unit. 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Times New Roman"/>
                          <a:cs typeface="Times New Roman"/>
                        </a:rPr>
                        <a:t>• Development of reference model on MATLAB for verification of weights using adaptive algorithms, hardcoded into RTL memory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7158891"/>
                  </a:ext>
                </a:extLst>
              </a:tr>
              <a:tr h="73249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1" i="1" u="none" strike="noStrike" noProof="0">
                          <a:latin typeface="Times New Roman"/>
                          <a:cs typeface="Times New Roman"/>
                        </a:rPr>
                        <a:t>September 2026</a:t>
                      </a:r>
                      <a:endParaRPr lang="en-US" sz="1400" b="1" i="1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latin typeface="Times New Roman"/>
                          <a:ea typeface="Calibri"/>
                          <a:cs typeface="Times New Roman"/>
                        </a:rPr>
                        <a:t>• RTL development of adder tree and top-level integration module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latin typeface="Times New Roman"/>
                          <a:ea typeface="Calibri"/>
                          <a:cs typeface="Times New Roman"/>
                        </a:rPr>
                        <a:t>• Testbench development for functional simulation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Times New Roman"/>
                          <a:cs typeface="Times New Roman"/>
                        </a:rPr>
                        <a:t>• Preliminary RTL simulation using Verilator for lint and sanity checks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8472894"/>
                  </a:ext>
                </a:extLst>
              </a:tr>
              <a:tr h="73249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1" i="1" u="none" strike="noStrike" noProof="0">
                          <a:latin typeface="Times New Roman"/>
                          <a:cs typeface="Times New Roman"/>
                        </a:rPr>
                        <a:t>October 2026</a:t>
                      </a:r>
                      <a:endParaRPr lang="en-US" sz="1400" b="1" i="1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latin typeface="Times New Roman"/>
                          <a:ea typeface="Calibri"/>
                          <a:cs typeface="Times New Roman"/>
                        </a:rPr>
                        <a:t>• Functional verification of complete RTL using Cadence Xcelium against the model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Times New Roman"/>
                          <a:cs typeface="Times New Roman"/>
                        </a:rPr>
                        <a:t>• RTL debugging and simulation coverage closure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1126675"/>
                  </a:ext>
                </a:extLst>
              </a:tr>
              <a:tr h="73249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1" i="1" u="none" strike="noStrike" noProof="0">
                          <a:latin typeface="Times New Roman"/>
                          <a:cs typeface="Times New Roman"/>
                        </a:rPr>
                        <a:t>November 2026</a:t>
                      </a:r>
                      <a:endParaRPr lang="en-US" sz="1400" b="1" i="1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latin typeface="Times New Roman"/>
                          <a:ea typeface="Calibri"/>
                          <a:cs typeface="Times New Roman"/>
                        </a:rPr>
                        <a:t>• Logic synthesis of verified RTL using Cadence Genus targeting the GPDK45 library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Times New Roman"/>
                          <a:cs typeface="Times New Roman"/>
                        </a:rPr>
                        <a:t>• Formal equivalence checking of synthesized netlist against RTL using Conformal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10501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96569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AE967-E666-6627-C3BA-860A8F3FC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749" y="0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b="1" i="1">
                <a:latin typeface="Times New Roman"/>
                <a:cs typeface="Times New Roman"/>
              </a:rPr>
              <a:t>References: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22F16-1800-BF5C-68C8-6F79A83B1E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749" y="1096488"/>
            <a:ext cx="11619270" cy="525986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500" b="1" kern="100">
                <a:latin typeface="Times New Roman"/>
                <a:ea typeface="+mn-lt"/>
                <a:cs typeface="Times New Roman"/>
              </a:rPr>
              <a:t>[1] </a:t>
            </a:r>
            <a:r>
              <a:rPr lang="en-US" sz="1500" kern="100">
                <a:latin typeface="Times New Roman"/>
                <a:ea typeface="+mn-lt"/>
                <a:cs typeface="Times New Roman"/>
              </a:rPr>
              <a:t>E. Ortega, A. Martínez, A. Oliva, F. Sanz, Ó. Rodríguez, M. Prieto, P. Parra, A. da Silva, and S. Sánchez, </a:t>
            </a:r>
            <a:r>
              <a:rPr lang="en-US" sz="1500" b="1" kern="100">
                <a:latin typeface="Times New Roman"/>
                <a:ea typeface="+mn-lt"/>
                <a:cs typeface="Times New Roman"/>
              </a:rPr>
              <a:t>“A Digital Beamforming Receiver Architecture Implemented on a FPGA for Space Applications,”</a:t>
            </a:r>
            <a:r>
              <a:rPr lang="en-US" sz="1500" kern="100">
                <a:latin typeface="Times New Roman"/>
                <a:ea typeface="+mn-lt"/>
                <a:cs typeface="Times New Roman"/>
              </a:rPr>
              <a:t> Microprocessors and Microsystems, vol. 121, Art. no. 105243, Mar. 2026.</a:t>
            </a:r>
          </a:p>
          <a:p>
            <a:pPr marL="0" indent="0">
              <a:buNone/>
            </a:pPr>
            <a:endParaRPr lang="en-US" sz="1500">
              <a:latin typeface="Times New Roman"/>
              <a:ea typeface="Calibri" panose="020F0502020204030204"/>
              <a:cs typeface="Times New Roman"/>
            </a:endParaRPr>
          </a:p>
          <a:p>
            <a:pPr marL="0" indent="0">
              <a:buNone/>
            </a:pPr>
            <a:r>
              <a:rPr lang="en-US" sz="1500" b="1" kern="100">
                <a:latin typeface="Times New Roman"/>
                <a:ea typeface="+mn-lt"/>
                <a:cs typeface="Times New Roman"/>
              </a:rPr>
              <a:t>[2] </a:t>
            </a:r>
            <a:r>
              <a:rPr lang="en-US" sz="1500" kern="100">
                <a:latin typeface="Times New Roman"/>
                <a:ea typeface="+mn-lt"/>
                <a:cs typeface="Times New Roman"/>
              </a:rPr>
              <a:t>B. D. Van Veen and K. M. Buckley, </a:t>
            </a:r>
            <a:r>
              <a:rPr lang="en-US" sz="1500" b="1" kern="100">
                <a:latin typeface="Times New Roman"/>
                <a:ea typeface="+mn-lt"/>
                <a:cs typeface="Times New Roman"/>
              </a:rPr>
              <a:t>"Beamforming: A Versatile Approach to Spatial Filtering," </a:t>
            </a:r>
            <a:r>
              <a:rPr lang="en-US" sz="1500" kern="100">
                <a:latin typeface="Times New Roman"/>
                <a:ea typeface="+mn-lt"/>
                <a:cs typeface="Times New Roman"/>
              </a:rPr>
              <a:t>IEEE ASSP Magazine, vol. 5, no. 2, pp. 4–24, Apr. 1988.’</a:t>
            </a:r>
          </a:p>
          <a:p>
            <a:pPr marL="0" indent="0">
              <a:buNone/>
            </a:pPr>
            <a:endParaRPr lang="en-US" sz="1500">
              <a:latin typeface="Times New Roman"/>
              <a:ea typeface="+mn-lt"/>
              <a:cs typeface="Times New Roman"/>
            </a:endParaRPr>
          </a:p>
          <a:p>
            <a:pPr marL="0" indent="0">
              <a:buNone/>
            </a:pPr>
            <a:r>
              <a:rPr lang="en-US" sz="1500" b="1" kern="100">
                <a:latin typeface="Times New Roman"/>
                <a:ea typeface="+mn-lt"/>
                <a:cs typeface="Times New Roman"/>
              </a:rPr>
              <a:t>[3] </a:t>
            </a:r>
            <a:r>
              <a:rPr lang="en-US" sz="1500" kern="100">
                <a:latin typeface="Times New Roman"/>
                <a:ea typeface="+mn-lt"/>
                <a:cs typeface="Times New Roman"/>
              </a:rPr>
              <a:t>Y. M. Shi, L. Huang, C. Qian, and H. C. So, </a:t>
            </a:r>
            <a:r>
              <a:rPr lang="en-US" sz="1500" b="1" kern="100">
                <a:latin typeface="Times New Roman"/>
                <a:ea typeface="+mn-lt"/>
                <a:cs typeface="Times New Roman"/>
              </a:rPr>
              <a:t>"Shrinkage Linear and Widely Linear Complex-Valued Least Mean Squares Algorithms for Adaptive Beamforming," </a:t>
            </a:r>
            <a:r>
              <a:rPr lang="en-US" sz="1500" kern="100">
                <a:latin typeface="Times New Roman"/>
                <a:ea typeface="+mn-lt"/>
                <a:cs typeface="Times New Roman"/>
              </a:rPr>
              <a:t>IEEE Transactions on Signal Processing, vol. 63, no. 1, pp. 176–187, Jan. 2015.</a:t>
            </a:r>
          </a:p>
          <a:p>
            <a:pPr marL="0" indent="0">
              <a:buNone/>
            </a:pPr>
            <a:endParaRPr lang="en-US" sz="1500">
              <a:latin typeface="Times New Roman"/>
              <a:ea typeface="+mn-lt"/>
              <a:cs typeface="Times New Roman"/>
            </a:endParaRPr>
          </a:p>
          <a:p>
            <a:pPr marL="0" indent="0">
              <a:buNone/>
            </a:pPr>
            <a:r>
              <a:rPr lang="en-US" sz="1500" b="1" kern="100">
                <a:latin typeface="Times New Roman"/>
                <a:ea typeface="+mn-lt"/>
                <a:cs typeface="Times New Roman"/>
              </a:rPr>
              <a:t>[4] </a:t>
            </a:r>
            <a:r>
              <a:rPr lang="en-US" sz="1500" kern="100">
                <a:latin typeface="Times New Roman"/>
                <a:ea typeface="+mn-lt"/>
                <a:cs typeface="Times New Roman"/>
              </a:rPr>
              <a:t>L. Zhang, W. Liu, and R. J. Langley, </a:t>
            </a:r>
            <a:r>
              <a:rPr lang="en-US" sz="1500" b="1" kern="100">
                <a:latin typeface="Times New Roman"/>
                <a:ea typeface="+mn-lt"/>
                <a:cs typeface="Times New Roman"/>
              </a:rPr>
              <a:t>"A Class of Constrained Adaptive Beamforming Algorithms Based on Uniform Linear Arrays," </a:t>
            </a:r>
            <a:r>
              <a:rPr lang="en-US" sz="1500" kern="100">
                <a:latin typeface="Times New Roman"/>
                <a:ea typeface="+mn-lt"/>
                <a:cs typeface="Times New Roman"/>
              </a:rPr>
              <a:t>IEEE Transactions on Signal Processing, vol. 58, no. 7, pp. 3918– 3930, Jul. 2010.</a:t>
            </a:r>
          </a:p>
          <a:p>
            <a:pPr marL="0" indent="0">
              <a:buNone/>
            </a:pPr>
            <a:endParaRPr lang="en-US" sz="1500">
              <a:latin typeface="Times New Roman"/>
              <a:ea typeface="Calibri" panose="020F0502020204030204"/>
              <a:cs typeface="Times New Roman"/>
            </a:endParaRPr>
          </a:p>
          <a:p>
            <a:pPr marL="0" indent="0">
              <a:buNone/>
            </a:pPr>
            <a:r>
              <a:rPr lang="en-US" sz="1500" b="1" kern="100">
                <a:latin typeface="Times New Roman"/>
                <a:ea typeface="+mn-lt"/>
                <a:cs typeface="Times New Roman"/>
              </a:rPr>
              <a:t>[5] </a:t>
            </a:r>
            <a:r>
              <a:rPr lang="en-US" sz="1500" kern="100">
                <a:latin typeface="Times New Roman"/>
                <a:ea typeface="+mn-lt"/>
                <a:cs typeface="Times New Roman"/>
              </a:rPr>
              <a:t>P. Hager, G. Matrone, F. </a:t>
            </a:r>
            <a:r>
              <a:rPr lang="en-US" sz="1500" kern="100" err="1">
                <a:latin typeface="Times New Roman"/>
                <a:ea typeface="+mn-lt"/>
                <a:cs typeface="Times New Roman"/>
              </a:rPr>
              <a:t>Svelto</a:t>
            </a:r>
            <a:r>
              <a:rPr lang="en-US" sz="1500" kern="100">
                <a:latin typeface="Times New Roman"/>
                <a:ea typeface="+mn-lt"/>
                <a:cs typeface="Times New Roman"/>
              </a:rPr>
              <a:t>, et al</a:t>
            </a:r>
            <a:r>
              <a:rPr lang="en-US" sz="1500" b="1" kern="100">
                <a:latin typeface="Times New Roman"/>
                <a:ea typeface="+mn-lt"/>
                <a:cs typeface="Times New Roman"/>
              </a:rPr>
              <a:t>., "Assessing the Area/Power/Performance Trade-Offs for an Integrated Fully-Digital Large-Scale 3-D Ultrasound Beamformer," </a:t>
            </a:r>
            <a:r>
              <a:rPr lang="en-US" sz="1500" kern="100">
                <a:latin typeface="Times New Roman"/>
                <a:ea typeface="+mn-lt"/>
                <a:cs typeface="Times New Roman"/>
              </a:rPr>
              <a:t>in Proc. IEEE Biomedical Circuits and Systems Conference (</a:t>
            </a:r>
            <a:r>
              <a:rPr lang="en-US" sz="1500" kern="100" err="1">
                <a:latin typeface="Times New Roman"/>
                <a:ea typeface="+mn-lt"/>
                <a:cs typeface="Times New Roman"/>
              </a:rPr>
              <a:t>BioCAS</a:t>
            </a:r>
            <a:r>
              <a:rPr lang="en-US" sz="1500" kern="100">
                <a:latin typeface="Times New Roman"/>
                <a:ea typeface="+mn-lt"/>
                <a:cs typeface="Times New Roman"/>
              </a:rPr>
              <a:t>), 2014, pp. 448–451.</a:t>
            </a:r>
          </a:p>
          <a:p>
            <a:pPr marL="0" indent="0">
              <a:buNone/>
            </a:pPr>
            <a:endParaRPr lang="en-US" sz="1500">
              <a:latin typeface="Times New Roman"/>
              <a:ea typeface="Calibri" panose="020F0502020204030204"/>
              <a:cs typeface="Times New Roman"/>
            </a:endParaRPr>
          </a:p>
          <a:p>
            <a:pPr marL="0" indent="0">
              <a:buNone/>
            </a:pPr>
            <a:r>
              <a:rPr lang="en-US" sz="1500" b="1" kern="100">
                <a:latin typeface="Times New Roman"/>
                <a:ea typeface="+mn-lt"/>
                <a:cs typeface="Times New Roman"/>
              </a:rPr>
              <a:t>[6] </a:t>
            </a:r>
            <a:r>
              <a:rPr lang="en-US" sz="1500" kern="100">
                <a:latin typeface="Times New Roman"/>
                <a:ea typeface="+mn-lt"/>
                <a:cs typeface="Times New Roman"/>
              </a:rPr>
              <a:t>S. M. Jang</a:t>
            </a:r>
            <a:r>
              <a:rPr lang="en-US" sz="1500" b="1" kern="100">
                <a:latin typeface="Times New Roman"/>
                <a:ea typeface="+mn-lt"/>
                <a:cs typeface="Times New Roman"/>
              </a:rPr>
              <a:t>, A CMOS Digital Beamforming Receiver</a:t>
            </a:r>
            <a:r>
              <a:rPr lang="en-US" sz="1500" kern="100">
                <a:latin typeface="Times New Roman"/>
                <a:ea typeface="+mn-lt"/>
                <a:cs typeface="Times New Roman"/>
              </a:rPr>
              <a:t>, Ph.D. dissertation, Department of Electrical Engineering and Computer Science, University of Michigan, Ann Arbor, MI, USA, 2018.</a:t>
            </a:r>
            <a:endParaRPr lang="en-US" sz="1500">
              <a:latin typeface="Times New Roman"/>
              <a:ea typeface="Calibri" panose="020F0502020204030204"/>
              <a:cs typeface="Times New Roman"/>
            </a:endParaRPr>
          </a:p>
          <a:p>
            <a:pPr marL="0" indent="0">
              <a:buNone/>
            </a:pPr>
            <a:endParaRPr lang="en-US" sz="1500" kern="100">
              <a:latin typeface="Calibri" panose="020F0502020204030204" pitchFamily="34" charset="0"/>
              <a:ea typeface="Calibri" panose="020F0502020204030204" pitchFamily="34" charset="0"/>
              <a:cs typeface="Calibri"/>
            </a:endParaRPr>
          </a:p>
          <a:p>
            <a:endParaRPr lang="en-US" sz="1500" kern="100">
              <a:latin typeface="Calibri" panose="020F0502020204030204" pitchFamily="34" charset="0"/>
              <a:ea typeface="Calibri" panose="020F0502020204030204" pitchFamily="34" charset="0"/>
              <a:cs typeface="Calibri"/>
            </a:endParaRPr>
          </a:p>
          <a:p>
            <a:endParaRPr lang="en-IN" sz="1500" kern="1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50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F10102-1AE7-774C-CFA7-7659BAB59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900">
                <a:solidFill>
                  <a:srgbClr val="787878"/>
                </a:solidFill>
                <a:latin typeface="Arial"/>
              </a:rPr>
              <a:t>20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F0E3F11-B1D5-C3CD-60F2-D47A13A02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243A4-1204-4A52-9075-9BB75F2D5078}" type="datetime1">
              <a:rPr lang="en-IN" smtClean="0"/>
              <a:t>27-09-2026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32648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d891d9a-c46a-4b5a-8dc9-8b2b1487b84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5DC6D10BD70146A4CD4FCE1C1BC193" ma:contentTypeVersion="15" ma:contentTypeDescription="Create a new document." ma:contentTypeScope="" ma:versionID="6ab844cbb760e4503cfb54651e48fe88">
  <xsd:schema xmlns:xsd="http://www.w3.org/2001/XMLSchema" xmlns:xs="http://www.w3.org/2001/XMLSchema" xmlns:p="http://schemas.microsoft.com/office/2006/metadata/properties" xmlns:ns3="9d891d9a-c46a-4b5a-8dc9-8b2b1487b84e" xmlns:ns4="7594423d-65f7-4c26-a2f8-7cd493592e0d" targetNamespace="http://schemas.microsoft.com/office/2006/metadata/properties" ma:root="true" ma:fieldsID="6a615d8498934801ca0bbf46a3df68d4" ns3:_="" ns4:_="">
    <xsd:import namespace="9d891d9a-c46a-4b5a-8dc9-8b2b1487b84e"/>
    <xsd:import namespace="7594423d-65f7-4c26-a2f8-7cd493592e0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891d9a-c46a-4b5a-8dc9-8b2b1487b84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94423d-65f7-4c26-a2f8-7cd493592e0d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E664F55-4D16-416D-A1C1-EDD9B60F7BD4}">
  <ds:schemaRefs>
    <ds:schemaRef ds:uri="http://schemas.microsoft.com/office/2006/documentManagement/types"/>
    <ds:schemaRef ds:uri="9d891d9a-c46a-4b5a-8dc9-8b2b1487b84e"/>
    <ds:schemaRef ds:uri="http://purl.org/dc/dcmitype/"/>
    <ds:schemaRef ds:uri="http://www.w3.org/XML/1998/namespace"/>
    <ds:schemaRef ds:uri="http://purl.org/dc/terms/"/>
    <ds:schemaRef ds:uri="http://purl.org/dc/elements/1.1/"/>
    <ds:schemaRef ds:uri="http://schemas.openxmlformats.org/package/2006/metadata/core-properties"/>
    <ds:schemaRef ds:uri="http://schemas.microsoft.com/office/infopath/2007/PartnerControls"/>
    <ds:schemaRef ds:uri="7594423d-65f7-4c26-a2f8-7cd493592e0d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5E5D01AF-6663-4806-A38F-6F7166A1641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2E3A857-B964-4DE3-9A41-DCD446B7405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d891d9a-c46a-4b5a-8dc9-8b2b1487b84e"/>
    <ds:schemaRef ds:uri="7594423d-65f7-4c26-a2f8-7cd493592e0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115</TotalTime>
  <Words>1717</Words>
  <Application>Microsoft Office PowerPoint</Application>
  <PresentationFormat>Widescreen</PresentationFormat>
  <Paragraphs>270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PowerPoint Presentation</vt:lpstr>
      <vt:lpstr>                  Introduction </vt:lpstr>
      <vt:lpstr>Motivation</vt:lpstr>
      <vt:lpstr>                                          Objective  To design, functionally verify, and synthesize the RTL implementation of a 4-channel digital beamforming processor targeting the GPDK45 45-nm technology library. The design will perform channel-wise weighting and signal combination using fixed-point arithmetic to achieve beam steering, with functional correctness validated against a MATLAB reference model. Post-synthesis, the design will be evaluated in terms of area, timing, and power.</vt:lpstr>
      <vt:lpstr>Conceptual Architecture/Block Diagram and Methodology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Architectural Specifications</vt:lpstr>
      <vt:lpstr>Timeline</vt:lpstr>
      <vt:lpstr>References: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LITERATURE SURVEY</dc:title>
  <dc:creator>Venkata Sai Vivek Potnuru</dc:creator>
  <cp:lastModifiedBy>Rishabh S Bhat-[BL.EN.U4ECE23240]</cp:lastModifiedBy>
  <cp:revision>8</cp:revision>
  <dcterms:created xsi:type="dcterms:W3CDTF">2021-11-03T05:08:25Z</dcterms:created>
  <dcterms:modified xsi:type="dcterms:W3CDTF">2026-09-28T04:41:29Z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0x010100455DC6D10BD70146A4CD4FCE1C1BC193</vt:lpwstr>
  </property>
</Properties>
</file>