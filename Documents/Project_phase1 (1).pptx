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6"/>
  </p:notesMasterIdLst>
  <p:sldIdLst>
    <p:sldId id="258" r:id="rId2"/>
    <p:sldId id="334" r:id="rId3"/>
    <p:sldId id="335" r:id="rId4"/>
    <p:sldId id="340" r:id="rId5"/>
    <p:sldId id="326" r:id="rId6"/>
    <p:sldId id="338" r:id="rId7"/>
    <p:sldId id="339" r:id="rId8"/>
    <p:sldId id="347" r:id="rId9"/>
    <p:sldId id="341" r:id="rId10"/>
    <p:sldId id="336" r:id="rId11"/>
    <p:sldId id="348" r:id="rId12"/>
    <p:sldId id="313" r:id="rId13"/>
    <p:sldId id="349" r:id="rId14"/>
    <p:sldId id="31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52" dt="2026-08-26T06:51:59.272"/>
    <p1510:client id="{0E54B806-54CD-41F5-A6DA-CD86099461C3}" v="70" dt="2026-08-25T17:53:09.640"/>
    <p1510:client id="{A9C91EAF-CFCE-4199-8392-DDBA92563ACD}" v="4" dt="2026-08-26T05:47:09.129"/>
    <p1510:client id="{DE8E583D-8576-F0C2-A9A1-0BA32EC8B7A8}" v="509" dt="2026-08-26T07:59:26.8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76" d="100"/>
          <a:sy n="76" d="100"/>
        </p:scale>
        <p:origin x="86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27866-E2A1-4FEE-B3A0-4684E8E32300}" type="datetimeFigureOut">
              <a:rPr lang="en-IN" smtClean="0"/>
              <a:t>31-08-2026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9D209-6920-48E8-9E99-C345ED0B91F2}" type="slidenum">
              <a:rPr lang="en-IN" smtClean="0"/>
              <a:t>‹#›</a:t>
            </a:fld>
            <a:endParaRPr lang="en-IN" dirty="0"/>
          </a:p>
        </p:txBody>
      </p:sp>
    </p:spTree>
    <p:extLst>
      <p:ext uri="{BB962C8B-B14F-4D97-AF65-F5344CB8AC3E}">
        <p14:creationId xmlns:p14="http://schemas.microsoft.com/office/powerpoint/2010/main" val="2533075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3290A3-CC82-42A3-9493-AD448FDAE8C6}" type="datetime1">
              <a:rPr lang="en-IN" smtClean="0"/>
              <a:t>31-08-2026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dirty="0"/>
          </a:p>
        </p:txBody>
      </p:sp>
      <p:pic>
        <p:nvPicPr>
          <p:cNvPr id="7" name="Picture 6" descr="A picture containing logo&#10;&#10;Description automatically generated">
            <a:extLst>
              <a:ext uri="{FF2B5EF4-FFF2-40B4-BE49-F238E27FC236}">
                <a16:creationId xmlns:a16="http://schemas.microsoft.com/office/drawing/2014/main" id="{9642D98A-1CF9-B2EA-03DC-085714D50C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63395" y="23813"/>
            <a:ext cx="2612246" cy="642978"/>
          </a:xfrm>
          <a:prstGeom prst="rect">
            <a:avLst/>
          </a:prstGeom>
        </p:spPr>
      </p:pic>
    </p:spTree>
    <p:extLst>
      <p:ext uri="{BB962C8B-B14F-4D97-AF65-F5344CB8AC3E}">
        <p14:creationId xmlns:p14="http://schemas.microsoft.com/office/powerpoint/2010/main" val="2496387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dirty="0"/>
          </a:p>
        </p:txBody>
      </p:sp>
      <p:pic>
        <p:nvPicPr>
          <p:cNvPr id="7" name="Picture 6" descr="A picture containing logo&#10;&#10;Description automatically generated">
            <a:extLst>
              <a:ext uri="{FF2B5EF4-FFF2-40B4-BE49-F238E27FC236}">
                <a16:creationId xmlns:a16="http://schemas.microsoft.com/office/drawing/2014/main" id="{131B9688-F3C5-BCED-0AE8-4FF170B7B7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949553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B4487-5772-4519-92E5-95945F7A4262}" type="datetime1">
              <a:rPr lang="en-IN" smtClean="0"/>
              <a:t>31-08-2026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dirty="0"/>
          </a:p>
        </p:txBody>
      </p:sp>
      <p:pic>
        <p:nvPicPr>
          <p:cNvPr id="7" name="Picture 6" descr="A picture containing logo&#10;&#10;Description automatically generated">
            <a:extLst>
              <a:ext uri="{FF2B5EF4-FFF2-40B4-BE49-F238E27FC236}">
                <a16:creationId xmlns:a16="http://schemas.microsoft.com/office/drawing/2014/main" id="{2D21BF30-5552-0CA1-7F91-66FD1A83D2E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2111113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D39D5F-CFCA-49B1-99ED-6A41409CC4C6}" type="datetime1">
              <a:rPr lang="en-IN" smtClean="0"/>
              <a:t>31-08-2026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dirty="0"/>
          </a:p>
        </p:txBody>
      </p:sp>
      <p:pic>
        <p:nvPicPr>
          <p:cNvPr id="8" name="Picture 7" descr="A picture containing logo&#10;&#10;Description automatically generated">
            <a:extLst>
              <a:ext uri="{FF2B5EF4-FFF2-40B4-BE49-F238E27FC236}">
                <a16:creationId xmlns:a16="http://schemas.microsoft.com/office/drawing/2014/main" id="{7E759B64-7B68-81FA-E2BA-E6B10D981D9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4006127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2A0801-8A7A-4502-ACBE-1FBA99A44977}" type="datetime1">
              <a:rPr lang="en-IN" smtClean="0"/>
              <a:t>31-08-2026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0898A6D-CD5C-4802-925B-E5FD8D219589}" type="slidenum">
              <a:rPr lang="en-IN" smtClean="0"/>
              <a:t>‹#›</a:t>
            </a:fld>
            <a:endParaRPr lang="en-IN" dirty="0"/>
          </a:p>
        </p:txBody>
      </p:sp>
      <p:pic>
        <p:nvPicPr>
          <p:cNvPr id="10" name="Picture 9" descr="A picture containing logo&#10;&#10;Description automatically generated">
            <a:extLst>
              <a:ext uri="{FF2B5EF4-FFF2-40B4-BE49-F238E27FC236}">
                <a16:creationId xmlns:a16="http://schemas.microsoft.com/office/drawing/2014/main" id="{858FBAF4-F14B-7E0C-B093-D4961ED68F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85538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0EDEC8-7F93-42BD-B355-7335EE486EBE}" type="datetime1">
              <a:rPr lang="en-IN" smtClean="0"/>
              <a:t>31-08-2026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0898A6D-CD5C-4802-925B-E5FD8D219589}" type="slidenum">
              <a:rPr lang="en-IN" smtClean="0"/>
              <a:t>‹#›</a:t>
            </a:fld>
            <a:endParaRPr lang="en-IN" dirty="0"/>
          </a:p>
        </p:txBody>
      </p:sp>
      <p:pic>
        <p:nvPicPr>
          <p:cNvPr id="6" name="Picture 5" descr="A picture containing logo&#10;&#10;Description automatically generated">
            <a:extLst>
              <a:ext uri="{FF2B5EF4-FFF2-40B4-BE49-F238E27FC236}">
                <a16:creationId xmlns:a16="http://schemas.microsoft.com/office/drawing/2014/main" id="{F2D585C3-C5CA-D45F-545B-EEF3383F7AF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206681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01C783-041F-4E67-90F3-122526AC43AD}" type="datetime1">
              <a:rPr lang="en-IN" smtClean="0"/>
              <a:t>31-08-2026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0898A6D-CD5C-4802-925B-E5FD8D219589}" type="slidenum">
              <a:rPr lang="en-IN" smtClean="0"/>
              <a:t>‹#›</a:t>
            </a:fld>
            <a:endParaRPr lang="en-IN" dirty="0"/>
          </a:p>
        </p:txBody>
      </p:sp>
      <p:pic>
        <p:nvPicPr>
          <p:cNvPr id="5" name="Picture 4" descr="A picture containing logo&#10;&#10;Description automatically generated">
            <a:extLst>
              <a:ext uri="{FF2B5EF4-FFF2-40B4-BE49-F238E27FC236}">
                <a16:creationId xmlns:a16="http://schemas.microsoft.com/office/drawing/2014/main" id="{C7E320DE-1E31-0CC1-9E16-6891A715BC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469104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D916FF-C6BE-4028-A08F-EF305206B2F0}" type="datetime1">
              <a:rPr lang="en-IN" smtClean="0"/>
              <a:t>31-08-2026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dirty="0"/>
          </a:p>
        </p:txBody>
      </p:sp>
      <p:pic>
        <p:nvPicPr>
          <p:cNvPr id="8" name="Picture 7" descr="A picture containing logo&#10;&#10;Description automatically generated">
            <a:extLst>
              <a:ext uri="{FF2B5EF4-FFF2-40B4-BE49-F238E27FC236}">
                <a16:creationId xmlns:a16="http://schemas.microsoft.com/office/drawing/2014/main" id="{E6E350A1-690D-6FF6-9AEE-88CD0F7A27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72801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CE0009-041A-4B8D-A39A-CB894A26B908}" type="datetime1">
              <a:rPr lang="en-IN" smtClean="0"/>
              <a:t>31-08-2026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dirty="0"/>
          </a:p>
        </p:txBody>
      </p:sp>
      <p:pic>
        <p:nvPicPr>
          <p:cNvPr id="8" name="Picture 7" descr="A picture containing logo&#10;&#10;Description automatically generated">
            <a:extLst>
              <a:ext uri="{FF2B5EF4-FFF2-40B4-BE49-F238E27FC236}">
                <a16:creationId xmlns:a16="http://schemas.microsoft.com/office/drawing/2014/main" id="{B0F4E6C5-6983-0CB7-B977-ABE4DAB3B6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3239545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E71545-228F-42CE-9D96-6A8A5BC7D304}" type="datetime1">
              <a:rPr lang="en-IN" smtClean="0"/>
              <a:t>31-08-2026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dirty="0"/>
          </a:p>
        </p:txBody>
      </p:sp>
      <p:pic>
        <p:nvPicPr>
          <p:cNvPr id="7" name="Picture 6" descr="A picture containing logo&#10;&#10;Description automatically generated">
            <a:extLst>
              <a:ext uri="{FF2B5EF4-FFF2-40B4-BE49-F238E27FC236}">
                <a16:creationId xmlns:a16="http://schemas.microsoft.com/office/drawing/2014/main" id="{C3AC931B-8F26-3B95-7533-D807274205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3062587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8C8C4E-D487-4836-88D3-B5D37397FDB2}" type="datetime1">
              <a:rPr lang="en-IN" smtClean="0"/>
              <a:t>31-08-2026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dirty="0"/>
          </a:p>
        </p:txBody>
      </p:sp>
      <p:pic>
        <p:nvPicPr>
          <p:cNvPr id="7" name="Picture 6" descr="A picture containing logo&#10;&#10;Description automatically generated">
            <a:extLst>
              <a:ext uri="{FF2B5EF4-FFF2-40B4-BE49-F238E27FC236}">
                <a16:creationId xmlns:a16="http://schemas.microsoft.com/office/drawing/2014/main" id="{8603A424-6C04-9BFE-6E69-8727683A14F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4188485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0BEA2A-61F6-4097-9FDE-FE2D398AA705}" type="datetime1">
              <a:rPr lang="en-IN" smtClean="0"/>
              <a:t>31-08-2026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898A6D-CD5C-4802-925B-E5FD8D219589}" type="slidenum">
              <a:rPr lang="en-IN" smtClean="0"/>
              <a:t>‹#›</a:t>
            </a:fld>
            <a:endParaRPr lang="en-IN" dirty="0"/>
          </a:p>
        </p:txBody>
      </p:sp>
    </p:spTree>
    <p:extLst>
      <p:ext uri="{BB962C8B-B14F-4D97-AF65-F5344CB8AC3E}">
        <p14:creationId xmlns:p14="http://schemas.microsoft.com/office/powerpoint/2010/main" val="16626391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object 12">
            <a:extLst>
              <a:ext uri="{FF2B5EF4-FFF2-40B4-BE49-F238E27FC236}">
                <a16:creationId xmlns:a16="http://schemas.microsoft.com/office/drawing/2014/main" id="{9663BE87-ACDA-42D9-9FFA-F6D293C54D20}"/>
              </a:ext>
            </a:extLst>
          </p:cNvPr>
          <p:cNvSpPr txBox="1">
            <a:spLocks/>
          </p:cNvSpPr>
          <p:nvPr/>
        </p:nvSpPr>
        <p:spPr>
          <a:xfrm>
            <a:off x="1143626" y="1655160"/>
            <a:ext cx="9767846" cy="447558"/>
          </a:xfrm>
          <a:prstGeom prst="rect">
            <a:avLst/>
          </a:prstGeom>
        </p:spPr>
        <p:txBody>
          <a:bodyPr vert="horz" wrap="square" lIns="0" tIns="16510" rIns="0" bIns="0" rtlCol="0" anchor="ctr">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30"/>
              </a:spcBef>
            </a:pPr>
            <a:r>
              <a:rPr lang="en-US" sz="2800" b="1" spc="-5" dirty="0">
                <a:solidFill>
                  <a:srgbClr val="FFFFFF"/>
                </a:solidFill>
                <a:latin typeface="Times New Roman" panose="02020603050405020304" pitchFamily="18" charset="0"/>
                <a:cs typeface="Times New Roman" panose="02020603050405020304" pitchFamily="18" charset="0"/>
              </a:rPr>
              <a:t>   </a:t>
            </a:r>
            <a:r>
              <a:rPr lang="en-US" sz="2800" b="1" spc="-5" dirty="0">
                <a:latin typeface="Times New Roman" panose="02020603050405020304" pitchFamily="18" charset="0"/>
                <a:cs typeface="Times New Roman" panose="02020603050405020304" pitchFamily="18" charset="0"/>
              </a:rPr>
              <a:t>EVALUATION I</a:t>
            </a:r>
            <a:endParaRPr lang="en-US" sz="2800" b="1" dirty="0">
              <a:latin typeface="Times New Roman" panose="02020603050405020304" pitchFamily="18" charset="0"/>
              <a:cs typeface="Times New Roman" panose="02020603050405020304" pitchFamily="18" charset="0"/>
            </a:endParaRPr>
          </a:p>
        </p:txBody>
      </p:sp>
      <p:sp>
        <p:nvSpPr>
          <p:cNvPr id="47" name="object 13">
            <a:extLst>
              <a:ext uri="{FF2B5EF4-FFF2-40B4-BE49-F238E27FC236}">
                <a16:creationId xmlns:a16="http://schemas.microsoft.com/office/drawing/2014/main" id="{EF04BD33-7DC6-4157-97EA-6B6FAC7EF66F}"/>
              </a:ext>
            </a:extLst>
          </p:cNvPr>
          <p:cNvSpPr txBox="1"/>
          <p:nvPr/>
        </p:nvSpPr>
        <p:spPr>
          <a:xfrm>
            <a:off x="806579" y="2324564"/>
            <a:ext cx="10441940" cy="990656"/>
          </a:xfrm>
          <a:prstGeom prst="rect">
            <a:avLst/>
          </a:prstGeom>
        </p:spPr>
        <p:txBody>
          <a:bodyPr vert="horz" wrap="square" lIns="0" tIns="5715" rIns="0" bIns="0" rtlCol="0">
            <a:spAutoFit/>
          </a:bodyPr>
          <a:lstStyle/>
          <a:p>
            <a:pPr marL="12700" marR="5080" algn="ctr">
              <a:lnSpc>
                <a:spcPct val="100000"/>
              </a:lnSpc>
              <a:spcBef>
                <a:spcPts val="45"/>
              </a:spcBef>
            </a:pPr>
            <a:r>
              <a:rPr lang="en-US" sz="3200" dirty="0">
                <a:solidFill>
                  <a:schemeClr val="accent1"/>
                </a:solidFill>
              </a:rPr>
              <a:t>Design of an Efficient FPGA-Oriented FFT Framework Employing Quartic Polynomial Estimation for RF Applications</a:t>
            </a:r>
            <a:endParaRPr lang="en-IN" sz="3200" dirty="0">
              <a:solidFill>
                <a:schemeClr val="accent1"/>
              </a:solidFill>
            </a:endParaRPr>
          </a:p>
        </p:txBody>
      </p:sp>
      <p:sp>
        <p:nvSpPr>
          <p:cNvPr id="48" name="object 15">
            <a:extLst>
              <a:ext uri="{FF2B5EF4-FFF2-40B4-BE49-F238E27FC236}">
                <a16:creationId xmlns:a16="http://schemas.microsoft.com/office/drawing/2014/main" id="{1B19C00C-03AD-4100-A48A-B1C904A7067A}"/>
              </a:ext>
            </a:extLst>
          </p:cNvPr>
          <p:cNvSpPr txBox="1"/>
          <p:nvPr/>
        </p:nvSpPr>
        <p:spPr>
          <a:xfrm>
            <a:off x="7366545" y="3537002"/>
            <a:ext cx="5815284" cy="1770356"/>
          </a:xfrm>
          <a:prstGeom prst="rect">
            <a:avLst/>
          </a:prstGeom>
        </p:spPr>
        <p:txBody>
          <a:bodyPr vert="horz" wrap="square" lIns="0" tIns="15875" rIns="0" bIns="0" rtlCol="0">
            <a:spAutoFit/>
          </a:bodyPr>
          <a:lstStyle/>
          <a:p>
            <a:pPr marL="12700">
              <a:spcBef>
                <a:spcPts val="125"/>
              </a:spcBef>
            </a:pPr>
            <a:endParaRPr lang="en-IN" sz="2000" b="1" dirty="0">
              <a:latin typeface="Georgia"/>
              <a:cs typeface="Georgia"/>
            </a:endParaRPr>
          </a:p>
          <a:p>
            <a:pPr marL="12700" marR="887730">
              <a:lnSpc>
                <a:spcPct val="100200"/>
              </a:lnSpc>
            </a:pPr>
            <a:r>
              <a:rPr lang="en-US" sz="2000" b="1" dirty="0">
                <a:latin typeface="Georgia"/>
                <a:cs typeface="Georgia"/>
              </a:rPr>
              <a:t>Name of the Guide</a:t>
            </a:r>
            <a:r>
              <a:rPr lang="en-US" sz="2000" b="1" spc="-5" dirty="0">
                <a:latin typeface="Georgia"/>
                <a:cs typeface="Georgia"/>
              </a:rPr>
              <a:t>: </a:t>
            </a:r>
            <a:r>
              <a:rPr lang="en-US" sz="2000" spc="-5" dirty="0">
                <a:latin typeface="Georgia"/>
                <a:cs typeface="Georgia"/>
              </a:rPr>
              <a:t>Dr. Parul Mathur</a:t>
            </a:r>
          </a:p>
          <a:p>
            <a:pPr marL="12700" marR="887730">
              <a:lnSpc>
                <a:spcPct val="100200"/>
              </a:lnSpc>
            </a:pPr>
            <a:endParaRPr lang="en-IN" dirty="0"/>
          </a:p>
          <a:p>
            <a:pPr>
              <a:defRPr>
                <a:latin typeface="Times New Roman"/>
                <a:ea typeface="Times New Roman"/>
                <a:cs typeface="Times New Roman"/>
                <a:sym typeface="Times New Roman"/>
              </a:defRPr>
            </a:pPr>
            <a:r>
              <a:rPr lang="en-IN" sz="2000" b="1" dirty="0">
                <a:latin typeface="Georgia"/>
              </a:rPr>
              <a:t>Name of the Evaluator:</a:t>
            </a:r>
          </a:p>
          <a:p>
            <a:pPr>
              <a:defRPr>
                <a:latin typeface="Times New Roman"/>
                <a:ea typeface="Times New Roman"/>
                <a:cs typeface="Times New Roman"/>
                <a:sym typeface="Times New Roman"/>
              </a:defRPr>
            </a:pPr>
            <a:r>
              <a:rPr lang="en-IN" dirty="0">
                <a:latin typeface="Georgia"/>
                <a:cs typeface="Georgia"/>
              </a:rPr>
              <a:t>Dr. Ashish Goswami</a:t>
            </a:r>
          </a:p>
          <a:p>
            <a:pPr>
              <a:defRPr>
                <a:latin typeface="Times New Roman"/>
                <a:ea typeface="Times New Roman"/>
                <a:cs typeface="Times New Roman"/>
                <a:sym typeface="Times New Roman"/>
              </a:defRPr>
            </a:pPr>
            <a:r>
              <a:rPr lang="en-IN" dirty="0">
                <a:latin typeface="Georgia"/>
                <a:cs typeface="Georgia"/>
              </a:rPr>
              <a:t>Mr. </a:t>
            </a:r>
            <a:r>
              <a:rPr lang="en-IN" dirty="0" err="1">
                <a:latin typeface="Georgia"/>
                <a:cs typeface="Georgia"/>
              </a:rPr>
              <a:t>Swaminadhan</a:t>
            </a:r>
            <a:r>
              <a:rPr lang="en-IN" dirty="0">
                <a:latin typeface="Georgia"/>
                <a:cs typeface="Georgia"/>
              </a:rPr>
              <a:t> Rajula</a:t>
            </a:r>
            <a:endParaRPr dirty="0">
              <a:latin typeface="Georgia"/>
              <a:cs typeface="Georgia"/>
            </a:endParaRPr>
          </a:p>
        </p:txBody>
      </p:sp>
      <p:sp>
        <p:nvSpPr>
          <p:cNvPr id="50" name="TextBox 49">
            <a:extLst>
              <a:ext uri="{FF2B5EF4-FFF2-40B4-BE49-F238E27FC236}">
                <a16:creationId xmlns:a16="http://schemas.microsoft.com/office/drawing/2014/main" id="{F2DB3E56-D34D-4C9E-BC45-229A6E18A067}"/>
              </a:ext>
            </a:extLst>
          </p:cNvPr>
          <p:cNvSpPr txBox="1"/>
          <p:nvPr/>
        </p:nvSpPr>
        <p:spPr>
          <a:xfrm>
            <a:off x="1244336" y="844736"/>
            <a:ext cx="9596384" cy="461665"/>
          </a:xfrm>
          <a:prstGeom prst="rect">
            <a:avLst/>
          </a:prstGeom>
          <a:noFill/>
        </p:spPr>
        <p:txBody>
          <a:bodyPr wrap="square" rtlCol="0">
            <a:spAutoFit/>
          </a:bodyPr>
          <a:lstStyle/>
          <a:p>
            <a:pPr algn="ctr"/>
            <a:r>
              <a:rPr lang="en-IN" sz="2400" b="1" dirty="0">
                <a:latin typeface="Times New Roman" panose="02020603050405020304" pitchFamily="18" charset="0"/>
                <a:ea typeface="Calibri" panose="020F0502020204030204" pitchFamily="34" charset="0"/>
              </a:rPr>
              <a:t>23</a:t>
            </a:r>
            <a:r>
              <a:rPr lang="en-IN" sz="2400" b="1" dirty="0">
                <a:effectLst/>
                <a:latin typeface="Times New Roman" panose="02020603050405020304" pitchFamily="18" charset="0"/>
                <a:ea typeface="Calibri" panose="020F0502020204030204" pitchFamily="34" charset="0"/>
              </a:rPr>
              <a:t>ECE498 –</a:t>
            </a:r>
            <a:r>
              <a:rPr lang="en-US" sz="2400" b="1" dirty="0">
                <a:solidFill>
                  <a:srgbClr val="000000"/>
                </a:solidFill>
                <a:effectLst/>
                <a:latin typeface="Times New Roman" panose="02020603050405020304" pitchFamily="18" charset="0"/>
                <a:ea typeface="Times New Roman" panose="02020603050405020304" pitchFamily="18" charset="0"/>
              </a:rPr>
              <a:t> </a:t>
            </a:r>
            <a:r>
              <a:rPr lang="en-US" sz="2400" b="1" dirty="0">
                <a:solidFill>
                  <a:srgbClr val="000000"/>
                </a:solidFill>
                <a:latin typeface="Times New Roman" panose="02020603050405020304" pitchFamily="18" charset="0"/>
                <a:ea typeface="Times New Roman" panose="02020603050405020304" pitchFamily="18" charset="0"/>
              </a:rPr>
              <a:t>PROJECT PHASE</a:t>
            </a:r>
            <a:r>
              <a:rPr lang="en-US" sz="2400" b="1" dirty="0">
                <a:solidFill>
                  <a:srgbClr val="000000"/>
                </a:solidFill>
                <a:effectLst/>
                <a:latin typeface="Times New Roman" panose="02020603050405020304" pitchFamily="18" charset="0"/>
                <a:ea typeface="Times New Roman" panose="02020603050405020304" pitchFamily="18" charset="0"/>
              </a:rPr>
              <a:t> I</a:t>
            </a:r>
          </a:p>
        </p:txBody>
      </p:sp>
      <p:sp>
        <p:nvSpPr>
          <p:cNvPr id="2" name="object 15">
            <a:extLst>
              <a:ext uri="{FF2B5EF4-FFF2-40B4-BE49-F238E27FC236}">
                <a16:creationId xmlns:a16="http://schemas.microsoft.com/office/drawing/2014/main" id="{93011EF8-F417-CDA6-ED89-EBA9504A2043}"/>
              </a:ext>
            </a:extLst>
          </p:cNvPr>
          <p:cNvSpPr txBox="1"/>
          <p:nvPr/>
        </p:nvSpPr>
        <p:spPr>
          <a:xfrm>
            <a:off x="806579" y="3429000"/>
            <a:ext cx="5815285" cy="2124299"/>
          </a:xfrm>
          <a:prstGeom prst="rect">
            <a:avLst/>
          </a:prstGeom>
        </p:spPr>
        <p:txBody>
          <a:bodyPr vert="horz" wrap="square" lIns="0" tIns="15875" rIns="0" bIns="0" rtlCol="0" anchor="t">
            <a:spAutoFit/>
          </a:bodyPr>
          <a:lstStyle/>
          <a:p>
            <a:pPr marL="12700">
              <a:spcBef>
                <a:spcPts val="125"/>
              </a:spcBef>
            </a:pPr>
            <a:endParaRPr lang="en-IN" sz="2000" b="1" dirty="0">
              <a:latin typeface="Georgia"/>
              <a:cs typeface="Georgia"/>
            </a:endParaRPr>
          </a:p>
          <a:p>
            <a:pPr>
              <a:spcBef>
                <a:spcPts val="994"/>
              </a:spcBef>
            </a:pPr>
            <a:r>
              <a:rPr lang="en-IN" sz="2000" b="1" dirty="0">
                <a:latin typeface="Times New Roman" panose="02020603050405020304" pitchFamily="18" charset="0"/>
                <a:cs typeface="Times New Roman" panose="02020603050405020304" pitchFamily="18" charset="0"/>
              </a:rPr>
              <a:t>TEAM: B057</a:t>
            </a:r>
          </a:p>
          <a:p>
            <a:pPr marL="285750" indent="-285750">
              <a:spcBef>
                <a:spcPts val="994"/>
              </a:spcBef>
              <a:buFont typeface="Arial" panose="020B0604020202020204" pitchFamily="34" charset="0"/>
              <a:buChar char="•"/>
            </a:pPr>
            <a:r>
              <a:rPr lang="en-IN" dirty="0">
                <a:latin typeface="Times New Roman"/>
                <a:cs typeface="Times New Roman"/>
              </a:rPr>
              <a:t>Dheeraj Reddy B                        BL.EN.U4ECE23112</a:t>
            </a:r>
          </a:p>
          <a:p>
            <a:pPr marL="285750" indent="-285750">
              <a:spcBef>
                <a:spcPts val="994"/>
              </a:spcBef>
              <a:buFont typeface="Arial" panose="020B0604020202020204" pitchFamily="34" charset="0"/>
              <a:buChar char="•"/>
            </a:pPr>
            <a:r>
              <a:rPr lang="en-IN" dirty="0">
                <a:latin typeface="Times New Roman"/>
                <a:cs typeface="Times New Roman"/>
              </a:rPr>
              <a:t>Vaibhavi C R                              BL.EN.U4ECE23152</a:t>
            </a:r>
            <a:endParaRPr lang="en-IN" dirty="0"/>
          </a:p>
          <a:p>
            <a:pPr>
              <a:defRPr>
                <a:latin typeface="Times New Roman"/>
                <a:ea typeface="Times New Roman"/>
                <a:cs typeface="Times New Roman"/>
                <a:sym typeface="Times New Roman"/>
              </a:defRPr>
            </a:pPr>
            <a:endParaRPr lang="en-IN" dirty="0"/>
          </a:p>
          <a:p>
            <a:pPr marL="12700" marR="887730">
              <a:lnSpc>
                <a:spcPct val="100200"/>
              </a:lnSpc>
            </a:pPr>
            <a:endParaRPr dirty="0">
              <a:latin typeface="Georgia"/>
              <a:cs typeface="Georgia"/>
            </a:endParaRPr>
          </a:p>
        </p:txBody>
      </p:sp>
    </p:spTree>
    <p:extLst>
      <p:ext uri="{BB962C8B-B14F-4D97-AF65-F5344CB8AC3E}">
        <p14:creationId xmlns:p14="http://schemas.microsoft.com/office/powerpoint/2010/main" val="1283671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CABD0-D5CD-1D52-368C-F124B490EC54}"/>
              </a:ext>
            </a:extLst>
          </p:cNvPr>
          <p:cNvSpPr>
            <a:spLocks noGrp="1"/>
          </p:cNvSpPr>
          <p:nvPr>
            <p:ph type="title"/>
          </p:nvPr>
        </p:nvSpPr>
        <p:spPr>
          <a:xfrm>
            <a:off x="838200" y="253158"/>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B48B93A-9085-2555-9A05-EB4332726EE1}"/>
              </a:ext>
            </a:extLst>
          </p:cNvPr>
          <p:cNvSpPr>
            <a:spLocks noGrp="1"/>
          </p:cNvSpPr>
          <p:nvPr>
            <p:ph idx="1"/>
          </p:nvPr>
        </p:nvSpPr>
        <p:spPr>
          <a:xfrm>
            <a:off x="688911" y="1578721"/>
            <a:ext cx="10515600" cy="4802187"/>
          </a:xfrm>
        </p:spPr>
        <p:txBody>
          <a:bodyPr vert="horz" lIns="91440" tIns="45720" rIns="91440" bIns="45720" rtlCol="0" anchor="t">
            <a:noAutofit/>
          </a:bodyPr>
          <a:lstStyle/>
          <a:p>
            <a:pPr lvl="0"/>
            <a:r>
              <a:rPr lang="en-IN" sz="1800" dirty="0"/>
              <a:t>Modern RF systems require efficient processing and analysis of signals in the frequency domain. </a:t>
            </a:r>
          </a:p>
          <a:p>
            <a:pPr lvl="0"/>
            <a:r>
              <a:rPr lang="en-IN" sz="1800" dirty="0"/>
              <a:t>The Fast Fourier Transform (FFT) is widely used to convert signals from the time domain into the frequency domain. </a:t>
            </a:r>
          </a:p>
          <a:p>
            <a:pPr lvl="0"/>
            <a:r>
              <a:rPr lang="en-IN" sz="1800" dirty="0"/>
              <a:t>FFT significantly reduces the computational complexity compared with direct Discrete Fourier Transform (DFT) computation. </a:t>
            </a:r>
          </a:p>
          <a:p>
            <a:pPr lvl="0"/>
            <a:r>
              <a:rPr lang="en-IN" sz="1800" dirty="0"/>
              <a:t>Two-Dimensional FFT (2D FFT) extends frequency-domain analysis to two-dimensional data. </a:t>
            </a:r>
          </a:p>
          <a:p>
            <a:pPr lvl="0"/>
            <a:r>
              <a:rPr lang="en-IN" sz="1800" dirty="0"/>
              <a:t>FFT processing is useful in applications involving multidimensional signal analysis, imaging, beamforming, and spectral processing. </a:t>
            </a:r>
          </a:p>
          <a:p>
            <a:pPr lvl="0"/>
            <a:r>
              <a:rPr lang="en-IN" sz="1800" dirty="0"/>
              <a:t>FPGA platforms provide parallel processing capability, high throughput, and reconfigurability, making them suitable for real-time signal-processing applications. </a:t>
            </a:r>
          </a:p>
          <a:p>
            <a:pPr lvl="0"/>
            <a:r>
              <a:rPr lang="en-IN" sz="1800" dirty="0"/>
              <a:t>This project focuses on developing an FPGA-oriented 2D FFT framework integrated with Quartic Polynomial Estimation for RF applications. </a:t>
            </a:r>
          </a:p>
        </p:txBody>
      </p:sp>
      <p:sp>
        <p:nvSpPr>
          <p:cNvPr id="4" name="Date Placeholder 3">
            <a:extLst>
              <a:ext uri="{FF2B5EF4-FFF2-40B4-BE49-F238E27FC236}">
                <a16:creationId xmlns:a16="http://schemas.microsoft.com/office/drawing/2014/main" id="{01C4E36B-4DC7-45FB-13A5-5F2297B29C23}"/>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B2DC9167-EC43-51AF-9633-6E186BD10292}"/>
              </a:ext>
            </a:extLst>
          </p:cNvPr>
          <p:cNvSpPr>
            <a:spLocks noGrp="1"/>
          </p:cNvSpPr>
          <p:nvPr>
            <p:ph type="sldNum" sz="quarter" idx="12"/>
          </p:nvPr>
        </p:nvSpPr>
        <p:spPr/>
        <p:txBody>
          <a:bodyPr/>
          <a:lstStyle/>
          <a:p>
            <a:fld id="{C0898A6D-CD5C-4802-925B-E5FD8D219589}" type="slidenum">
              <a:rPr lang="en-IN" smtClean="0"/>
              <a:t>2</a:t>
            </a:fld>
            <a:endParaRPr lang="en-IN" dirty="0"/>
          </a:p>
        </p:txBody>
      </p:sp>
    </p:spTree>
    <p:extLst>
      <p:ext uri="{BB962C8B-B14F-4D97-AF65-F5344CB8AC3E}">
        <p14:creationId xmlns:p14="http://schemas.microsoft.com/office/powerpoint/2010/main" val="3797159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34591-B0BC-A00E-E075-BA591BBC8512}"/>
              </a:ext>
            </a:extLst>
          </p:cNvPr>
          <p:cNvSpPr>
            <a:spLocks noGrp="1"/>
          </p:cNvSpPr>
          <p:nvPr>
            <p:ph type="title"/>
          </p:nvPr>
        </p:nvSpPr>
        <p:spPr>
          <a:xfrm>
            <a:off x="838200" y="0"/>
            <a:ext cx="5002763" cy="1325563"/>
          </a:xfrm>
        </p:spPr>
        <p:txBody>
          <a:bodyPr>
            <a:normAutofit/>
          </a:bodyPr>
          <a:lstStyle/>
          <a:p>
            <a:r>
              <a:rPr lang="en-IN" sz="4000" b="1"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DD32FEBA-E19C-D357-E93D-A063860F1969}"/>
              </a:ext>
            </a:extLst>
          </p:cNvPr>
          <p:cNvSpPr>
            <a:spLocks noGrp="1"/>
          </p:cNvSpPr>
          <p:nvPr>
            <p:ph idx="1"/>
          </p:nvPr>
        </p:nvSpPr>
        <p:spPr>
          <a:xfrm>
            <a:off x="838200" y="852376"/>
            <a:ext cx="10890380" cy="2130555"/>
          </a:xfrm>
        </p:spPr>
        <p:txBody>
          <a:bodyPr vert="horz" lIns="91440" tIns="45720" rIns="91440" bIns="45720" rtlCol="0" anchor="t">
            <a:normAutofit fontScale="92500"/>
          </a:bodyPr>
          <a:lstStyle/>
          <a:p>
            <a:pPr lvl="0"/>
            <a:r>
              <a:rPr lang="en-IN" sz="1800" dirty="0"/>
              <a:t>RF applications require accurate and fast frequency analysis. </a:t>
            </a:r>
          </a:p>
          <a:p>
            <a:pPr lvl="0"/>
            <a:r>
              <a:rPr lang="en-IN" sz="1800" dirty="0"/>
              <a:t>Conventional implementations can have high computational complexity. </a:t>
            </a:r>
          </a:p>
          <a:p>
            <a:pPr lvl="0"/>
            <a:r>
              <a:rPr lang="en-IN" sz="1800" dirty="0"/>
              <a:t>Real-time processing requires low latency and high throughput. </a:t>
            </a:r>
          </a:p>
          <a:p>
            <a:pPr lvl="0"/>
            <a:r>
              <a:rPr lang="en-IN" sz="1800" dirty="0"/>
              <a:t>FPGA provides parallelism and efficient hardware implementation. </a:t>
            </a:r>
          </a:p>
          <a:p>
            <a:pPr lvl="0"/>
            <a:r>
              <a:rPr lang="en-IN" sz="1800" dirty="0"/>
              <a:t>Frequency estimation becomes challenging for signals containing multiple sinusoidal components. </a:t>
            </a:r>
          </a:p>
          <a:p>
            <a:pPr lvl="0"/>
            <a:r>
              <a:rPr lang="en-IN" sz="1800" dirty="0"/>
              <a:t>There is a need for an optimized framework that combines efficient FFT processing with Quartic Polynomial Estimation.</a:t>
            </a:r>
          </a:p>
          <a:p>
            <a:endParaRPr lang="en-IN" sz="1800" dirty="0">
              <a:latin typeface="Times New Roman"/>
              <a:cs typeface="Times New Roman"/>
            </a:endParaRPr>
          </a:p>
        </p:txBody>
      </p:sp>
      <p:sp>
        <p:nvSpPr>
          <p:cNvPr id="4" name="Date Placeholder 3">
            <a:extLst>
              <a:ext uri="{FF2B5EF4-FFF2-40B4-BE49-F238E27FC236}">
                <a16:creationId xmlns:a16="http://schemas.microsoft.com/office/drawing/2014/main" id="{A5021452-43FD-91C0-E8B5-0E2EB403EE0E}"/>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268FA9EF-2651-16EB-D869-DA7493B83E3E}"/>
              </a:ext>
            </a:extLst>
          </p:cNvPr>
          <p:cNvSpPr>
            <a:spLocks noGrp="1"/>
          </p:cNvSpPr>
          <p:nvPr>
            <p:ph type="sldNum" sz="quarter" idx="12"/>
          </p:nvPr>
        </p:nvSpPr>
        <p:spPr/>
        <p:txBody>
          <a:bodyPr/>
          <a:lstStyle/>
          <a:p>
            <a:fld id="{C0898A6D-CD5C-4802-925B-E5FD8D219589}" type="slidenum">
              <a:rPr lang="en-IN" smtClean="0"/>
              <a:t>3</a:t>
            </a:fld>
            <a:endParaRPr lang="en-IN" dirty="0"/>
          </a:p>
        </p:txBody>
      </p:sp>
      <p:sp>
        <p:nvSpPr>
          <p:cNvPr id="7" name="Title 1">
            <a:extLst>
              <a:ext uri="{FF2B5EF4-FFF2-40B4-BE49-F238E27FC236}">
                <a16:creationId xmlns:a16="http://schemas.microsoft.com/office/drawing/2014/main" id="{81962A35-D56A-4A87-549A-3CDCC2DE7431}"/>
              </a:ext>
            </a:extLst>
          </p:cNvPr>
          <p:cNvSpPr txBox="1">
            <a:spLocks/>
          </p:cNvSpPr>
          <p:nvPr/>
        </p:nvSpPr>
        <p:spPr>
          <a:xfrm>
            <a:off x="843003" y="2645363"/>
            <a:ext cx="9316713" cy="10164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5693C5FB-1EA8-DE05-E6C1-8413FA09F972}"/>
              </a:ext>
            </a:extLst>
          </p:cNvPr>
          <p:cNvSpPr txBox="1">
            <a:spLocks noChangeArrowheads="1"/>
          </p:cNvSpPr>
          <p:nvPr/>
        </p:nvSpPr>
        <p:spPr bwMode="auto">
          <a:xfrm>
            <a:off x="760457" y="3731215"/>
            <a:ext cx="11045866" cy="3105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800" dirty="0"/>
              <a:t>RF signal analysis requires accurate and computationally efficient spectral processing. Implementing 2D FFT and frequency-estimation techniques on FPGA involves challenges such as:</a:t>
            </a:r>
          </a:p>
          <a:p>
            <a:pPr lvl="0"/>
            <a:r>
              <a:rPr lang="en-IN" sz="1800" dirty="0"/>
              <a:t>High computational complexity </a:t>
            </a:r>
          </a:p>
          <a:p>
            <a:pPr lvl="0"/>
            <a:r>
              <a:rPr lang="en-IN" sz="1800" dirty="0"/>
              <a:t>Hardware resource utilization </a:t>
            </a:r>
          </a:p>
          <a:p>
            <a:pPr lvl="0"/>
            <a:r>
              <a:rPr lang="en-IN" sz="1800" dirty="0"/>
              <a:t>Memory requirements Processing latency </a:t>
            </a:r>
          </a:p>
          <a:p>
            <a:pPr lvl="0"/>
            <a:r>
              <a:rPr lang="en-IN" sz="1800" dirty="0"/>
              <a:t>Timing constraints </a:t>
            </a:r>
          </a:p>
          <a:p>
            <a:r>
              <a:rPr lang="en-IN" sz="1800" dirty="0"/>
              <a:t>Therefore, an optimized and modular FPGA-oriented framework is required to perform efficient 2D FFT processing and accurate frequency estimation for RF signal analysis.</a:t>
            </a:r>
          </a:p>
          <a:p>
            <a:pPr marL="0" indent="0" algn="just">
              <a:buNone/>
            </a:pPr>
            <a:endParaRPr lang="en-IN" sz="1800" dirty="0">
              <a:latin typeface="Times New Roman"/>
              <a:ea typeface="Calibri"/>
              <a:cs typeface="Times New Roman"/>
            </a:endParaRPr>
          </a:p>
        </p:txBody>
      </p:sp>
    </p:spTree>
    <p:extLst>
      <p:ext uri="{BB962C8B-B14F-4D97-AF65-F5344CB8AC3E}">
        <p14:creationId xmlns:p14="http://schemas.microsoft.com/office/powerpoint/2010/main" val="3822095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07E06-8EC6-6CBD-22C0-53DC32D736A8}"/>
              </a:ext>
            </a:extLst>
          </p:cNvPr>
          <p:cNvSpPr>
            <a:spLocks noGrp="1"/>
          </p:cNvSpPr>
          <p:nvPr>
            <p:ph type="title"/>
          </p:nvPr>
        </p:nvSpPr>
        <p:spPr>
          <a:xfrm>
            <a:off x="833718" y="2126782"/>
            <a:ext cx="3780865" cy="1123858"/>
          </a:xfrm>
        </p:spPr>
        <p:txBody>
          <a:bodyPr>
            <a:normAutofit/>
          </a:bodyPr>
          <a:lstStyle/>
          <a:p>
            <a:r>
              <a:rPr lang="en-US" sz="4000" b="1" dirty="0">
                <a:latin typeface="Times New Roman"/>
                <a:cs typeface="Times New Roman"/>
              </a:rPr>
              <a:t>Sub-Objective</a:t>
            </a:r>
            <a:endParaRPr lang="en-US" dirty="0"/>
          </a:p>
        </p:txBody>
      </p:sp>
      <p:sp>
        <p:nvSpPr>
          <p:cNvPr id="3" name="Content Placeholder 2">
            <a:extLst>
              <a:ext uri="{FF2B5EF4-FFF2-40B4-BE49-F238E27FC236}">
                <a16:creationId xmlns:a16="http://schemas.microsoft.com/office/drawing/2014/main" id="{11D9A030-0221-51A4-6B1A-86731101002E}"/>
              </a:ext>
            </a:extLst>
          </p:cNvPr>
          <p:cNvSpPr>
            <a:spLocks noGrp="1"/>
          </p:cNvSpPr>
          <p:nvPr>
            <p:ph idx="1"/>
          </p:nvPr>
        </p:nvSpPr>
        <p:spPr>
          <a:xfrm>
            <a:off x="833718" y="3011945"/>
            <a:ext cx="10213042" cy="2558397"/>
          </a:xfrm>
        </p:spPr>
        <p:txBody>
          <a:bodyPr vert="horz" lIns="91440" tIns="45720" rIns="91440" bIns="45720" rtlCol="0" anchor="t">
            <a:normAutofit/>
          </a:bodyPr>
          <a:lstStyle/>
          <a:p>
            <a:pPr lvl="0"/>
            <a:r>
              <a:rPr lang="en-IN" sz="1800" dirty="0"/>
              <a:t>Study the mathematical principles of 2D FFT and QPE. </a:t>
            </a:r>
          </a:p>
          <a:p>
            <a:pPr lvl="0"/>
            <a:r>
              <a:rPr lang="en-IN" sz="1800" dirty="0"/>
              <a:t>Optimize the algorithm for FPGA implementation. </a:t>
            </a:r>
          </a:p>
          <a:p>
            <a:pPr lvl="0"/>
            <a:r>
              <a:rPr lang="en-IN" sz="1800" dirty="0"/>
              <a:t>Design modular FPGA-compatible functional blocks. </a:t>
            </a:r>
          </a:p>
          <a:p>
            <a:pPr lvl="0"/>
            <a:r>
              <a:rPr lang="en-IN" sz="1800" dirty="0"/>
              <a:t>Verify the algorithm using sinusoidal test signals. </a:t>
            </a:r>
          </a:p>
          <a:p>
            <a:pPr lvl="0"/>
            <a:r>
              <a:rPr lang="en-IN" sz="1800" dirty="0"/>
              <a:t>Perform fixed-point and timing analysis. </a:t>
            </a:r>
          </a:p>
          <a:p>
            <a:pPr lvl="0"/>
            <a:r>
              <a:rPr lang="en-IN" sz="1800" dirty="0"/>
              <a:t>Develop a scalable framework for future real-time RF applications.</a:t>
            </a:r>
          </a:p>
        </p:txBody>
      </p:sp>
      <p:sp>
        <p:nvSpPr>
          <p:cNvPr id="4" name="Date Placeholder 3">
            <a:extLst>
              <a:ext uri="{FF2B5EF4-FFF2-40B4-BE49-F238E27FC236}">
                <a16:creationId xmlns:a16="http://schemas.microsoft.com/office/drawing/2014/main" id="{56A7F326-E7AD-482A-BCFB-FC822299BD06}"/>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67BBF650-6C64-19D2-5C5B-D4AE22562DD0}"/>
              </a:ext>
            </a:extLst>
          </p:cNvPr>
          <p:cNvSpPr>
            <a:spLocks noGrp="1"/>
          </p:cNvSpPr>
          <p:nvPr>
            <p:ph type="sldNum" sz="quarter" idx="12"/>
          </p:nvPr>
        </p:nvSpPr>
        <p:spPr/>
        <p:txBody>
          <a:bodyPr/>
          <a:lstStyle/>
          <a:p>
            <a:fld id="{C0898A6D-CD5C-4802-925B-E5FD8D219589}" type="slidenum">
              <a:rPr lang="en-IN" smtClean="0"/>
              <a:t>4</a:t>
            </a:fld>
            <a:endParaRPr lang="en-IN" dirty="0"/>
          </a:p>
        </p:txBody>
      </p:sp>
      <p:sp>
        <p:nvSpPr>
          <p:cNvPr id="7" name="Title 1">
            <a:extLst>
              <a:ext uri="{FF2B5EF4-FFF2-40B4-BE49-F238E27FC236}">
                <a16:creationId xmlns:a16="http://schemas.microsoft.com/office/drawing/2014/main" id="{B3308E62-40F8-2E2D-D071-0A211B309E18}"/>
              </a:ext>
            </a:extLst>
          </p:cNvPr>
          <p:cNvSpPr txBox="1">
            <a:spLocks/>
          </p:cNvSpPr>
          <p:nvPr/>
        </p:nvSpPr>
        <p:spPr>
          <a:xfrm>
            <a:off x="833718" y="170143"/>
            <a:ext cx="3780865" cy="11238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latin typeface="Times New Roman"/>
                <a:cs typeface="Times New Roman"/>
              </a:rPr>
              <a:t>OBJECTIVE</a:t>
            </a:r>
            <a:endParaRPr lang="en-US"/>
          </a:p>
        </p:txBody>
      </p:sp>
      <p:sp>
        <p:nvSpPr>
          <p:cNvPr id="9" name="Content Placeholder 2">
            <a:extLst>
              <a:ext uri="{FF2B5EF4-FFF2-40B4-BE49-F238E27FC236}">
                <a16:creationId xmlns:a16="http://schemas.microsoft.com/office/drawing/2014/main" id="{43197697-CE17-AFEE-7550-1A3C77CF5D44}"/>
              </a:ext>
            </a:extLst>
          </p:cNvPr>
          <p:cNvSpPr txBox="1">
            <a:spLocks/>
          </p:cNvSpPr>
          <p:nvPr/>
        </p:nvSpPr>
        <p:spPr>
          <a:xfrm>
            <a:off x="833718" y="1047936"/>
            <a:ext cx="10347512" cy="103207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IN" sz="1800" dirty="0"/>
              <a:t>To design and mathematically optimize a Quartic Polynomial Estimator-based Two-Dimensional Fast Fourier Transform algorithm for FPGA implementation, enabling efficient and accurate spectral analysis of RF signals and establishing the foundation for a high-performance VLSI architecture.</a:t>
            </a:r>
            <a:endParaRPr lang="en-US" dirty="0">
              <a:ea typeface="+mn-lt"/>
              <a:cs typeface="+mn-lt"/>
            </a:endParaRPr>
          </a:p>
        </p:txBody>
      </p:sp>
    </p:spTree>
    <p:extLst>
      <p:ext uri="{BB962C8B-B14F-4D97-AF65-F5344CB8AC3E}">
        <p14:creationId xmlns:p14="http://schemas.microsoft.com/office/powerpoint/2010/main" val="1776080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5F2D-98E6-1A0B-F449-49D5D6FBAA2F}"/>
              </a:ext>
            </a:extLst>
          </p:cNvPr>
          <p:cNvSpPr>
            <a:spLocks noGrp="1"/>
          </p:cNvSpPr>
          <p:nvPr>
            <p:ph type="title"/>
          </p:nvPr>
        </p:nvSpPr>
        <p:spPr>
          <a:xfrm>
            <a:off x="73089" y="0"/>
            <a:ext cx="10515600" cy="817289"/>
          </a:xfrm>
        </p:spPr>
        <p:txBody>
          <a:bodyPr>
            <a:normAutofit/>
          </a:bodyPr>
          <a:lstStyle/>
          <a:p>
            <a:r>
              <a:rPr lang="en-US" sz="2800" b="1" dirty="0">
                <a:latin typeface="Times New Roman" panose="02020603050405020304" pitchFamily="18" charset="0"/>
                <a:cs typeface="Times New Roman" panose="02020603050405020304" pitchFamily="18" charset="0"/>
              </a:rPr>
              <a:t> LITERATURE SURVEY</a:t>
            </a:r>
            <a:endParaRPr lang="en-IN" sz="2800" dirty="0"/>
          </a:p>
        </p:txBody>
      </p:sp>
      <p:sp>
        <p:nvSpPr>
          <p:cNvPr id="3" name="Content Placeholder 2">
            <a:extLst>
              <a:ext uri="{FF2B5EF4-FFF2-40B4-BE49-F238E27FC236}">
                <a16:creationId xmlns:a16="http://schemas.microsoft.com/office/drawing/2014/main" id="{8FFD723B-6800-8D25-5F2C-6E1C452CCD08}"/>
              </a:ext>
            </a:extLst>
          </p:cNvPr>
          <p:cNvSpPr>
            <a:spLocks noGrp="1"/>
          </p:cNvSpPr>
          <p:nvPr>
            <p:ph idx="1"/>
          </p:nvPr>
        </p:nvSpPr>
        <p:spPr>
          <a:xfrm>
            <a:off x="838200" y="817289"/>
            <a:ext cx="10515600" cy="4994549"/>
          </a:xfrm>
        </p:spPr>
        <p:txBody>
          <a:bodyPr vert="horz" lIns="91440" tIns="45720" rIns="91440" bIns="45720" rtlCol="0" anchor="t">
            <a:normAutofit fontScale="92500" lnSpcReduction="10000"/>
          </a:bodyPr>
          <a:lstStyle/>
          <a:p>
            <a:pPr marL="0" indent="0">
              <a:buNone/>
            </a:pPr>
            <a:r>
              <a:rPr lang="en-IN" sz="2000" b="1" dirty="0"/>
              <a:t>Paper 1</a:t>
            </a:r>
            <a:r>
              <a:rPr lang="en-IN" sz="2000" dirty="0"/>
              <a:t>: “A Quartic Polynomial Based Approach for Multi-Sinusoidal Frequency Estimation” — G. Narayanan and D. G. Kurup — </a:t>
            </a:r>
            <a:r>
              <a:rPr lang="en-IN" sz="2000" i="1" dirty="0"/>
              <a:t>International Journal of Electrical and Electronic Engineering &amp; Telecommunications, 2024</a:t>
            </a:r>
            <a:endParaRPr lang="en-IN" sz="2000" dirty="0"/>
          </a:p>
          <a:p>
            <a:pPr lvl="0"/>
            <a:r>
              <a:rPr lang="en-IN" sz="2000" dirty="0"/>
              <a:t>Proposed a Quartic Polynomial-based approach for estimating frequencies in multi-sinusoidal signals. </a:t>
            </a:r>
          </a:p>
          <a:p>
            <a:pPr lvl="0"/>
            <a:r>
              <a:rPr lang="en-IN" sz="2000" dirty="0"/>
              <a:t>The method focuses on improving frequency estimation by using polynomial-based mathematical analysis. </a:t>
            </a:r>
          </a:p>
          <a:p>
            <a:pPr lvl="0"/>
            <a:r>
              <a:rPr lang="en-IN" sz="2000" dirty="0"/>
              <a:t>It is relevant to RF signal processing, where accurate identification of frequency components is important. </a:t>
            </a:r>
          </a:p>
          <a:p>
            <a:pPr marL="0" indent="0">
              <a:buNone/>
            </a:pPr>
            <a:r>
              <a:rPr lang="en-IN" sz="2000" b="1" dirty="0"/>
              <a:t>Key Results:</a:t>
            </a:r>
          </a:p>
          <a:p>
            <a:pPr lvl="0"/>
            <a:r>
              <a:rPr lang="en-IN" sz="2000" dirty="0"/>
              <a:t>Demonstrated the applicability of Quartic Polynomial Estimation for multi-sinusoidal frequency estimation. </a:t>
            </a:r>
          </a:p>
          <a:p>
            <a:pPr lvl="0"/>
            <a:r>
              <a:rPr lang="en-IN" sz="2000" dirty="0"/>
              <a:t>Provided a mathematical approach for analysing and estimating signal frequencies. </a:t>
            </a:r>
          </a:p>
          <a:p>
            <a:pPr lvl="0"/>
            <a:r>
              <a:rPr lang="en-IN" sz="2000" dirty="0"/>
              <a:t>Established QPE as a potential technique for improving spectral and frequency analysis. </a:t>
            </a:r>
          </a:p>
          <a:p>
            <a:pPr marL="0" indent="0">
              <a:buNone/>
            </a:pPr>
            <a:r>
              <a:rPr lang="en-IN" sz="2000" b="1" dirty="0"/>
              <a:t>Research Gap</a:t>
            </a:r>
            <a:r>
              <a:rPr lang="en-IN" sz="2000" dirty="0"/>
              <a:t>: The work mainly focuses on the frequency estimation algorithm. Further investigation is required to integrate the approach with a 2D FFT-based, FPGA-oriented hardware architecture for real-time RF applications.</a:t>
            </a:r>
          </a:p>
        </p:txBody>
      </p:sp>
      <p:sp>
        <p:nvSpPr>
          <p:cNvPr id="4" name="Date Placeholder 3">
            <a:extLst>
              <a:ext uri="{FF2B5EF4-FFF2-40B4-BE49-F238E27FC236}">
                <a16:creationId xmlns:a16="http://schemas.microsoft.com/office/drawing/2014/main" id="{01E04055-FFED-2B92-4225-02937AB52519}"/>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5DB6874E-2725-EA06-FBC3-DA46DF154439}"/>
              </a:ext>
            </a:extLst>
          </p:cNvPr>
          <p:cNvSpPr>
            <a:spLocks noGrp="1"/>
          </p:cNvSpPr>
          <p:nvPr>
            <p:ph type="sldNum" sz="quarter" idx="12"/>
          </p:nvPr>
        </p:nvSpPr>
        <p:spPr/>
        <p:txBody>
          <a:bodyPr/>
          <a:lstStyle/>
          <a:p>
            <a:fld id="{C0898A6D-CD5C-4802-925B-E5FD8D219589}" type="slidenum">
              <a:rPr lang="en-IN" smtClean="0"/>
              <a:t>5</a:t>
            </a:fld>
            <a:endParaRPr lang="en-IN" dirty="0"/>
          </a:p>
        </p:txBody>
      </p:sp>
    </p:spTree>
    <p:extLst>
      <p:ext uri="{BB962C8B-B14F-4D97-AF65-F5344CB8AC3E}">
        <p14:creationId xmlns:p14="http://schemas.microsoft.com/office/powerpoint/2010/main" val="2413550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FAB712-E2EC-D73E-096F-B85508A97CA7}"/>
              </a:ext>
            </a:extLst>
          </p:cNvPr>
          <p:cNvSpPr>
            <a:spLocks noGrp="1"/>
          </p:cNvSpPr>
          <p:nvPr>
            <p:ph idx="1"/>
          </p:nvPr>
        </p:nvSpPr>
        <p:spPr>
          <a:xfrm>
            <a:off x="754224" y="715282"/>
            <a:ext cx="10515600" cy="5163004"/>
          </a:xfrm>
        </p:spPr>
        <p:txBody>
          <a:bodyPr vert="horz" lIns="91440" tIns="45720" rIns="91440" bIns="45720" rtlCol="0" anchor="t">
            <a:noAutofit/>
          </a:bodyPr>
          <a:lstStyle/>
          <a:p>
            <a:pPr marL="0" indent="0">
              <a:buNone/>
            </a:pPr>
            <a:r>
              <a:rPr lang="en-IN" sz="2000" b="1" dirty="0"/>
              <a:t>Paper 2</a:t>
            </a:r>
            <a:r>
              <a:rPr lang="en-IN" sz="2000" dirty="0"/>
              <a:t>: “FPGA Implementation of Efficient 2D-FFT Beamforming for On-Board Processing in Satellites” — R. </a:t>
            </a:r>
            <a:r>
              <a:rPr lang="en-IN" sz="2000" dirty="0" err="1"/>
              <a:t>Palisetty</a:t>
            </a:r>
            <a:r>
              <a:rPr lang="en-IN" sz="2000" dirty="0"/>
              <a:t>, G. Eappen, V. Singh, and L. M. Garces Socarras — </a:t>
            </a:r>
            <a:r>
              <a:rPr lang="en-IN" sz="2000" i="1" dirty="0"/>
              <a:t>IEEE VTC-Fall, 2023</a:t>
            </a:r>
            <a:endParaRPr lang="en-IN" sz="2000" dirty="0"/>
          </a:p>
          <a:p>
            <a:pPr lvl="0"/>
            <a:r>
              <a:rPr lang="en-IN" sz="2000" dirty="0"/>
              <a:t>Proposed an efficient FPGA-based implementation of 2D FFT for beamforming applications. </a:t>
            </a:r>
          </a:p>
          <a:p>
            <a:pPr lvl="0"/>
            <a:r>
              <a:rPr lang="en-IN" sz="2000" dirty="0"/>
              <a:t>The work demonstrates the importance of FPGA platforms for computationally intensive multidimensional signal processing. </a:t>
            </a:r>
          </a:p>
          <a:p>
            <a:pPr lvl="0"/>
            <a:r>
              <a:rPr lang="en-IN" sz="2000" dirty="0"/>
              <a:t>The architecture is relevant to applications requiring efficient and high-speed processing. </a:t>
            </a:r>
          </a:p>
          <a:p>
            <a:pPr marL="0" indent="0">
              <a:buNone/>
            </a:pPr>
            <a:r>
              <a:rPr lang="en-IN" sz="2000" b="1" dirty="0"/>
              <a:t>Key Results</a:t>
            </a:r>
            <a:r>
              <a:rPr lang="en-IN" sz="2000" dirty="0"/>
              <a:t>:</a:t>
            </a:r>
          </a:p>
          <a:p>
            <a:pPr lvl="0"/>
            <a:r>
              <a:rPr lang="en-IN" sz="2000" dirty="0"/>
              <a:t>Demonstrated the feasibility of implementing efficient 2D FFT processing on FPGA. </a:t>
            </a:r>
          </a:p>
          <a:p>
            <a:pPr lvl="0"/>
            <a:r>
              <a:rPr lang="en-IN" sz="2000" dirty="0"/>
              <a:t>Showed the importance of hardware-oriented optimization for high-performance signal processing. </a:t>
            </a:r>
          </a:p>
          <a:p>
            <a:pPr lvl="0"/>
            <a:r>
              <a:rPr lang="en-IN" sz="2000" dirty="0"/>
              <a:t>Provided insights into the implementation of 2D FFT for real-time applications. </a:t>
            </a:r>
          </a:p>
          <a:p>
            <a:pPr marL="0" indent="0">
              <a:buNone/>
            </a:pPr>
            <a:r>
              <a:rPr lang="en-IN" sz="2000" b="1" dirty="0"/>
              <a:t>Research Gap</a:t>
            </a:r>
            <a:r>
              <a:rPr lang="en-IN" sz="2000" dirty="0"/>
              <a:t>: The work focuses on 2D FFT beamforming. There is an opportunity to investigate the integration of Quartic Polynomial Estimation with 2D FFT processing for frequency estimation and RF spectral analysis.</a:t>
            </a:r>
          </a:p>
        </p:txBody>
      </p:sp>
      <p:sp>
        <p:nvSpPr>
          <p:cNvPr id="4" name="Date Placeholder 3">
            <a:extLst>
              <a:ext uri="{FF2B5EF4-FFF2-40B4-BE49-F238E27FC236}">
                <a16:creationId xmlns:a16="http://schemas.microsoft.com/office/drawing/2014/main" id="{69CFF3F1-4268-8E04-3D36-CDD824EDE7D3}"/>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840CC1E5-B999-704C-855C-2246301E090D}"/>
              </a:ext>
            </a:extLst>
          </p:cNvPr>
          <p:cNvSpPr>
            <a:spLocks noGrp="1"/>
          </p:cNvSpPr>
          <p:nvPr>
            <p:ph type="sldNum" sz="quarter" idx="12"/>
          </p:nvPr>
        </p:nvSpPr>
        <p:spPr/>
        <p:txBody>
          <a:bodyPr/>
          <a:lstStyle/>
          <a:p>
            <a:fld id="{C0898A6D-CD5C-4802-925B-E5FD8D219589}" type="slidenum">
              <a:rPr lang="en-IN" smtClean="0"/>
              <a:t>6</a:t>
            </a:fld>
            <a:endParaRPr lang="en-IN" dirty="0"/>
          </a:p>
        </p:txBody>
      </p:sp>
      <p:sp>
        <p:nvSpPr>
          <p:cNvPr id="2" name="Title 1">
            <a:extLst>
              <a:ext uri="{FF2B5EF4-FFF2-40B4-BE49-F238E27FC236}">
                <a16:creationId xmlns:a16="http://schemas.microsoft.com/office/drawing/2014/main" id="{F333F5FE-B6DE-0E52-4397-EF08DBCF2A0E}"/>
              </a:ext>
            </a:extLst>
          </p:cNvPr>
          <p:cNvSpPr>
            <a:spLocks noGrp="1"/>
          </p:cNvSpPr>
          <p:nvPr>
            <p:ph type="title"/>
          </p:nvPr>
        </p:nvSpPr>
        <p:spPr>
          <a:xfrm>
            <a:off x="73089" y="0"/>
            <a:ext cx="10515600" cy="817289"/>
          </a:xfrm>
        </p:spPr>
        <p:txBody>
          <a:bodyPr>
            <a:normAutofit/>
          </a:bodyPr>
          <a:lstStyle/>
          <a:p>
            <a:r>
              <a:rPr lang="en-US" sz="2800" b="1" dirty="0">
                <a:latin typeface="Times New Roman" panose="02020603050405020304" pitchFamily="18" charset="0"/>
                <a:cs typeface="Times New Roman" panose="02020603050405020304" pitchFamily="18" charset="0"/>
              </a:rPr>
              <a:t> LITERATURE SURVEY</a:t>
            </a:r>
            <a:endParaRPr lang="en-IN" sz="2800" dirty="0"/>
          </a:p>
        </p:txBody>
      </p:sp>
    </p:spTree>
    <p:extLst>
      <p:ext uri="{BB962C8B-B14F-4D97-AF65-F5344CB8AC3E}">
        <p14:creationId xmlns:p14="http://schemas.microsoft.com/office/powerpoint/2010/main" val="146061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E754C5-C19D-B470-D54A-42DFE8FA0F75}"/>
              </a:ext>
            </a:extLst>
          </p:cNvPr>
          <p:cNvSpPr>
            <a:spLocks noGrp="1"/>
          </p:cNvSpPr>
          <p:nvPr>
            <p:ph idx="1"/>
          </p:nvPr>
        </p:nvSpPr>
        <p:spPr>
          <a:xfrm>
            <a:off x="716902" y="836579"/>
            <a:ext cx="10797074" cy="5228319"/>
          </a:xfrm>
        </p:spPr>
        <p:txBody>
          <a:bodyPr vert="horz" lIns="91440" tIns="45720" rIns="91440" bIns="45720" rtlCol="0" anchor="t">
            <a:noAutofit/>
          </a:bodyPr>
          <a:lstStyle/>
          <a:p>
            <a:pPr marL="0" indent="0">
              <a:buNone/>
            </a:pPr>
            <a:r>
              <a:rPr lang="en-IN" sz="2000" b="1" dirty="0"/>
              <a:t>Paper 3:</a:t>
            </a:r>
            <a:r>
              <a:rPr lang="en-IN" sz="2000" dirty="0"/>
              <a:t> “Implementation of a Two-Dimensional FFT/IFFT Processor for Real-Time High-Resolution Synthetic Aperture Radar Imaging” — H.-Y. Chin, P.-Y. Tsai, and S.-Y. Lee — </a:t>
            </a:r>
            <a:r>
              <a:rPr lang="en-IN" sz="2000" i="1" dirty="0"/>
              <a:t>IEEE </a:t>
            </a:r>
            <a:r>
              <a:rPr lang="en-IN" sz="2000" i="1" dirty="0" err="1"/>
              <a:t>SiPS</a:t>
            </a:r>
            <a:r>
              <a:rPr lang="en-IN" sz="2000" i="1" dirty="0"/>
              <a:t>, 2021</a:t>
            </a:r>
            <a:endParaRPr lang="en-IN" sz="2000" dirty="0"/>
          </a:p>
          <a:p>
            <a:pPr lvl="0"/>
            <a:r>
              <a:rPr lang="en-IN" sz="2000" dirty="0"/>
              <a:t>Presented a 2D FFT/IFFT processor for real-time high-resolution Synthetic Aperture Radar applications. </a:t>
            </a:r>
          </a:p>
          <a:p>
            <a:pPr lvl="0"/>
            <a:r>
              <a:rPr lang="en-IN" sz="2000" dirty="0"/>
              <a:t>The work focuses on efficient hardware processing of two-dimensional transform operations. </a:t>
            </a:r>
          </a:p>
          <a:p>
            <a:pPr lvl="0"/>
            <a:r>
              <a:rPr lang="en-IN" sz="2000" dirty="0"/>
              <a:t>It highlights the importance of architecture design for real-time, high-performance signal processing. </a:t>
            </a:r>
          </a:p>
          <a:p>
            <a:pPr marL="0" indent="0">
              <a:buNone/>
            </a:pPr>
            <a:r>
              <a:rPr lang="en-IN" sz="2000" b="1" dirty="0"/>
              <a:t>Key Results:</a:t>
            </a:r>
            <a:endParaRPr lang="en-IN" sz="2000" dirty="0"/>
          </a:p>
          <a:p>
            <a:pPr lvl="0"/>
            <a:r>
              <a:rPr lang="en-IN" sz="2000" dirty="0"/>
              <a:t>Demonstrated the implementation of a 2D FFT/IFFT processor for real-time applications. </a:t>
            </a:r>
          </a:p>
          <a:p>
            <a:pPr lvl="0"/>
            <a:r>
              <a:rPr lang="en-IN" sz="2000" dirty="0"/>
              <a:t>Showed the importance of efficient processing architecture in reducing computational bottlenecks. </a:t>
            </a:r>
          </a:p>
          <a:p>
            <a:pPr lvl="0"/>
            <a:r>
              <a:rPr lang="en-IN" sz="2000" dirty="0"/>
              <a:t>Provided architectural insights for designing high-performance multidimensional FFT systems. </a:t>
            </a:r>
          </a:p>
          <a:p>
            <a:pPr marL="0" indent="0">
              <a:buNone/>
            </a:pPr>
            <a:r>
              <a:rPr lang="en-IN" sz="2000" b="1" dirty="0"/>
              <a:t>Research Gap:</a:t>
            </a:r>
            <a:r>
              <a:rPr lang="en-IN" sz="2000" dirty="0"/>
              <a:t> The work is focused on SAR imaging applications. Further work can investigate an optimized FPGA architecture specifically targeting RF spectral analysis and frequency estimation using QPE.</a:t>
            </a:r>
          </a:p>
        </p:txBody>
      </p:sp>
      <p:sp>
        <p:nvSpPr>
          <p:cNvPr id="4" name="Date Placeholder 3">
            <a:extLst>
              <a:ext uri="{FF2B5EF4-FFF2-40B4-BE49-F238E27FC236}">
                <a16:creationId xmlns:a16="http://schemas.microsoft.com/office/drawing/2014/main" id="{F6779623-A17E-096B-21E0-C131FD6D5137}"/>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74FE8309-66E5-4687-664B-5F19EA06BDDB}"/>
              </a:ext>
            </a:extLst>
          </p:cNvPr>
          <p:cNvSpPr>
            <a:spLocks noGrp="1"/>
          </p:cNvSpPr>
          <p:nvPr>
            <p:ph type="sldNum" sz="quarter" idx="12"/>
          </p:nvPr>
        </p:nvSpPr>
        <p:spPr/>
        <p:txBody>
          <a:bodyPr/>
          <a:lstStyle/>
          <a:p>
            <a:fld id="{C0898A6D-CD5C-4802-925B-E5FD8D219589}" type="slidenum">
              <a:rPr lang="en-IN" smtClean="0"/>
              <a:t>7</a:t>
            </a:fld>
            <a:endParaRPr lang="en-IN" dirty="0"/>
          </a:p>
        </p:txBody>
      </p:sp>
      <p:sp>
        <p:nvSpPr>
          <p:cNvPr id="2" name="Title 1">
            <a:extLst>
              <a:ext uri="{FF2B5EF4-FFF2-40B4-BE49-F238E27FC236}">
                <a16:creationId xmlns:a16="http://schemas.microsoft.com/office/drawing/2014/main" id="{6062DE6A-03C6-736F-1EE2-105447F9F1A5}"/>
              </a:ext>
            </a:extLst>
          </p:cNvPr>
          <p:cNvSpPr>
            <a:spLocks noGrp="1"/>
          </p:cNvSpPr>
          <p:nvPr>
            <p:ph type="title"/>
          </p:nvPr>
        </p:nvSpPr>
        <p:spPr>
          <a:xfrm>
            <a:off x="73089" y="0"/>
            <a:ext cx="10515600" cy="817289"/>
          </a:xfrm>
        </p:spPr>
        <p:txBody>
          <a:bodyPr>
            <a:normAutofit/>
          </a:bodyPr>
          <a:lstStyle/>
          <a:p>
            <a:r>
              <a:rPr lang="en-US" sz="2800" b="1" dirty="0">
                <a:latin typeface="Times New Roman" panose="02020603050405020304" pitchFamily="18" charset="0"/>
                <a:cs typeface="Times New Roman" panose="02020603050405020304" pitchFamily="18" charset="0"/>
              </a:rPr>
              <a:t> LITERATURE SURVEY</a:t>
            </a:r>
            <a:endParaRPr lang="en-IN" sz="2800" dirty="0"/>
          </a:p>
        </p:txBody>
      </p:sp>
    </p:spTree>
    <p:extLst>
      <p:ext uri="{BB962C8B-B14F-4D97-AF65-F5344CB8AC3E}">
        <p14:creationId xmlns:p14="http://schemas.microsoft.com/office/powerpoint/2010/main" val="3304081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B08B2-0094-9049-95B1-93C0E5D0E7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D384C9-A063-AEBF-EDC0-F431DFB2502E}"/>
              </a:ext>
            </a:extLst>
          </p:cNvPr>
          <p:cNvSpPr>
            <a:spLocks noGrp="1"/>
          </p:cNvSpPr>
          <p:nvPr>
            <p:ph idx="1"/>
          </p:nvPr>
        </p:nvSpPr>
        <p:spPr>
          <a:xfrm>
            <a:off x="697463" y="645660"/>
            <a:ext cx="10797074" cy="5228319"/>
          </a:xfrm>
        </p:spPr>
        <p:txBody>
          <a:bodyPr vert="horz" lIns="91440" tIns="45720" rIns="91440" bIns="45720" rtlCol="0" anchor="t">
            <a:noAutofit/>
          </a:bodyPr>
          <a:lstStyle/>
          <a:p>
            <a:pPr marL="0" indent="0">
              <a:buNone/>
            </a:pPr>
            <a:r>
              <a:rPr lang="en-IN" sz="2000" b="1" dirty="0"/>
              <a:t>Paper 4:</a:t>
            </a:r>
            <a:r>
              <a:rPr lang="en-IN" sz="2000" dirty="0"/>
              <a:t> “FPGA Architecture for 2D Discrete Fourier Transform Based on 2D Decomposition for Large-Sized Data” — J. S. Kim et al. — </a:t>
            </a:r>
            <a:r>
              <a:rPr lang="en-IN" sz="2000" i="1" dirty="0"/>
              <a:t>IEEE </a:t>
            </a:r>
            <a:r>
              <a:rPr lang="en-IN" sz="2000" i="1" dirty="0" err="1"/>
              <a:t>SiPS</a:t>
            </a:r>
            <a:r>
              <a:rPr lang="en-IN" sz="2000" i="1" dirty="0"/>
              <a:t>, 2009</a:t>
            </a:r>
            <a:endParaRPr lang="en-IN" sz="2000" dirty="0"/>
          </a:p>
          <a:p>
            <a:pPr lvl="0"/>
            <a:r>
              <a:rPr lang="en-IN" sz="2000" dirty="0"/>
              <a:t>Proposed an FPGA architecture for implementing 2D Discrete Fourier Transform using 2D decomposition. </a:t>
            </a:r>
          </a:p>
          <a:p>
            <a:pPr lvl="0"/>
            <a:r>
              <a:rPr lang="en-IN" sz="2000" dirty="0"/>
              <a:t>The work addresses the processing of large-sized two-dimensional data. </a:t>
            </a:r>
          </a:p>
          <a:p>
            <a:pPr lvl="0"/>
            <a:r>
              <a:rPr lang="en-IN" sz="2000" dirty="0"/>
              <a:t>It provides insights into decomposition techniques and hardware organization for multidimensional transform processing. </a:t>
            </a:r>
          </a:p>
          <a:p>
            <a:pPr marL="0" indent="0">
              <a:buNone/>
            </a:pPr>
            <a:r>
              <a:rPr lang="en-IN" sz="2000" b="1" dirty="0"/>
              <a:t>Key Results:</a:t>
            </a:r>
            <a:endParaRPr lang="en-IN" sz="2000" dirty="0"/>
          </a:p>
          <a:p>
            <a:pPr lvl="0"/>
            <a:r>
              <a:rPr lang="en-IN" sz="2000" dirty="0"/>
              <a:t>Demonstrated an FPGA-oriented architecture for large-sized 2D transform processing. </a:t>
            </a:r>
          </a:p>
          <a:p>
            <a:pPr lvl="0"/>
            <a:r>
              <a:rPr lang="en-IN" sz="2000" dirty="0"/>
              <a:t>Showed the usefulness of 2D decomposition in organizing multidimensional computations. </a:t>
            </a:r>
          </a:p>
          <a:p>
            <a:pPr lvl="0"/>
            <a:r>
              <a:rPr lang="en-IN" sz="2000" dirty="0"/>
              <a:t>Provided insights into scalable architecture and hardware resource management. </a:t>
            </a:r>
          </a:p>
          <a:p>
            <a:pPr marL="0" indent="0">
              <a:buNone/>
            </a:pPr>
            <a:r>
              <a:rPr lang="en-IN" sz="2000" b="1" dirty="0"/>
              <a:t>Research Gap:</a:t>
            </a:r>
            <a:r>
              <a:rPr lang="en-IN" sz="2000" dirty="0"/>
              <a:t> The work primarily addresses the implementation of 2D DFT using decomposition techniques. Further research can focus on combining efficient 2D FFT processing with Quartic Polynomial Estimation and optimizing the complete system for RF applications.</a:t>
            </a:r>
          </a:p>
        </p:txBody>
      </p:sp>
      <p:sp>
        <p:nvSpPr>
          <p:cNvPr id="4" name="Date Placeholder 3">
            <a:extLst>
              <a:ext uri="{FF2B5EF4-FFF2-40B4-BE49-F238E27FC236}">
                <a16:creationId xmlns:a16="http://schemas.microsoft.com/office/drawing/2014/main" id="{49DE0993-FA55-94A4-5C9E-BAB3A2C90A19}"/>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CCEC9E5D-5AE6-0C9B-2E09-F7DFF1FB90CB}"/>
              </a:ext>
            </a:extLst>
          </p:cNvPr>
          <p:cNvSpPr>
            <a:spLocks noGrp="1"/>
          </p:cNvSpPr>
          <p:nvPr>
            <p:ph type="sldNum" sz="quarter" idx="12"/>
          </p:nvPr>
        </p:nvSpPr>
        <p:spPr/>
        <p:txBody>
          <a:bodyPr/>
          <a:lstStyle/>
          <a:p>
            <a:fld id="{C0898A6D-CD5C-4802-925B-E5FD8D219589}" type="slidenum">
              <a:rPr lang="en-IN" smtClean="0"/>
              <a:t>8</a:t>
            </a:fld>
            <a:endParaRPr lang="en-IN" dirty="0"/>
          </a:p>
        </p:txBody>
      </p:sp>
      <p:sp>
        <p:nvSpPr>
          <p:cNvPr id="2" name="Title 1">
            <a:extLst>
              <a:ext uri="{FF2B5EF4-FFF2-40B4-BE49-F238E27FC236}">
                <a16:creationId xmlns:a16="http://schemas.microsoft.com/office/drawing/2014/main" id="{73DECCAC-A115-B778-77D0-35C9DC01ADB9}"/>
              </a:ext>
            </a:extLst>
          </p:cNvPr>
          <p:cNvSpPr>
            <a:spLocks noGrp="1"/>
          </p:cNvSpPr>
          <p:nvPr>
            <p:ph type="title"/>
          </p:nvPr>
        </p:nvSpPr>
        <p:spPr>
          <a:xfrm>
            <a:off x="73089" y="0"/>
            <a:ext cx="10515600" cy="817289"/>
          </a:xfrm>
        </p:spPr>
        <p:txBody>
          <a:bodyPr>
            <a:normAutofit/>
          </a:bodyPr>
          <a:lstStyle/>
          <a:p>
            <a:r>
              <a:rPr lang="en-US" sz="2800" b="1" dirty="0">
                <a:latin typeface="Times New Roman" panose="02020603050405020304" pitchFamily="18" charset="0"/>
                <a:cs typeface="Times New Roman" panose="02020603050405020304" pitchFamily="18" charset="0"/>
              </a:rPr>
              <a:t> LITERATURE SURVEY</a:t>
            </a:r>
            <a:endParaRPr lang="en-IN" sz="2800" dirty="0"/>
          </a:p>
        </p:txBody>
      </p:sp>
    </p:spTree>
    <p:extLst>
      <p:ext uri="{BB962C8B-B14F-4D97-AF65-F5344CB8AC3E}">
        <p14:creationId xmlns:p14="http://schemas.microsoft.com/office/powerpoint/2010/main" val="3406412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2A6EC8C-FDE5-D8D9-4E55-0DB2C50F7C25}"/>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252E7F7A-1C0B-BA8E-288F-B76D7030B737}"/>
              </a:ext>
            </a:extLst>
          </p:cNvPr>
          <p:cNvSpPr>
            <a:spLocks noGrp="1"/>
          </p:cNvSpPr>
          <p:nvPr>
            <p:ph type="sldNum" sz="quarter" idx="12"/>
          </p:nvPr>
        </p:nvSpPr>
        <p:spPr/>
        <p:txBody>
          <a:bodyPr/>
          <a:lstStyle/>
          <a:p>
            <a:fld id="{C0898A6D-CD5C-4802-925B-E5FD8D219589}" type="slidenum">
              <a:rPr lang="en-IN" smtClean="0"/>
              <a:t>9</a:t>
            </a:fld>
            <a:endParaRPr lang="en-IN" dirty="0"/>
          </a:p>
        </p:txBody>
      </p:sp>
      <p:sp>
        <p:nvSpPr>
          <p:cNvPr id="6" name="Title 1">
            <a:extLst>
              <a:ext uri="{FF2B5EF4-FFF2-40B4-BE49-F238E27FC236}">
                <a16:creationId xmlns:a16="http://schemas.microsoft.com/office/drawing/2014/main" id="{AE1E323A-E50A-9F48-2BE5-EAACB265F1DB}"/>
              </a:ext>
            </a:extLst>
          </p:cNvPr>
          <p:cNvSpPr txBox="1">
            <a:spLocks/>
          </p:cNvSpPr>
          <p:nvPr/>
        </p:nvSpPr>
        <p:spPr>
          <a:xfrm>
            <a:off x="73089" y="0"/>
            <a:ext cx="10515600" cy="817289"/>
          </a:xfrm>
          <a:prstGeom prst="rect">
            <a:avLst/>
          </a:prstGeom>
        </p:spPr>
        <p:txBody>
          <a:bodyPr lIns="91440" tIns="45720" rIns="91440" bIns="4572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latin typeface="Times New Roman"/>
                <a:cs typeface="Times New Roman"/>
              </a:rPr>
              <a:t> LITERATURE SURVEY SUMMARY</a:t>
            </a:r>
            <a:endParaRPr lang="en-IN" sz="2800" dirty="0"/>
          </a:p>
        </p:txBody>
      </p:sp>
      <p:graphicFrame>
        <p:nvGraphicFramePr>
          <p:cNvPr id="2" name="Table 1">
            <a:extLst>
              <a:ext uri="{FF2B5EF4-FFF2-40B4-BE49-F238E27FC236}">
                <a16:creationId xmlns:a16="http://schemas.microsoft.com/office/drawing/2014/main" id="{AA8C2607-7B25-F38A-3C7B-ED79A682E720}"/>
              </a:ext>
            </a:extLst>
          </p:cNvPr>
          <p:cNvGraphicFramePr>
            <a:graphicFrameLocks noGrp="1"/>
          </p:cNvGraphicFramePr>
          <p:nvPr>
            <p:extLst>
              <p:ext uri="{D42A27DB-BD31-4B8C-83A1-F6EECF244321}">
                <p14:modId xmlns:p14="http://schemas.microsoft.com/office/powerpoint/2010/main" val="4027376423"/>
              </p:ext>
            </p:extLst>
          </p:nvPr>
        </p:nvGraphicFramePr>
        <p:xfrm>
          <a:off x="2931" y="408644"/>
          <a:ext cx="12189069" cy="7435102"/>
        </p:xfrm>
        <a:graphic>
          <a:graphicData uri="http://schemas.openxmlformats.org/drawingml/2006/table">
            <a:tbl>
              <a:tblPr firstRow="1" bandRow="1">
                <a:tableStyleId>{5C22544A-7EE6-4342-B048-85BDC9FD1C3A}</a:tableStyleId>
              </a:tblPr>
              <a:tblGrid>
                <a:gridCol w="1808703">
                  <a:extLst>
                    <a:ext uri="{9D8B030D-6E8A-4147-A177-3AD203B41FA5}">
                      <a16:colId xmlns:a16="http://schemas.microsoft.com/office/drawing/2014/main" val="1875994888"/>
                    </a:ext>
                  </a:extLst>
                </a:gridCol>
                <a:gridCol w="1815821">
                  <a:extLst>
                    <a:ext uri="{9D8B030D-6E8A-4147-A177-3AD203B41FA5}">
                      <a16:colId xmlns:a16="http://schemas.microsoft.com/office/drawing/2014/main" val="2719454397"/>
                    </a:ext>
                  </a:extLst>
                </a:gridCol>
                <a:gridCol w="2301072">
                  <a:extLst>
                    <a:ext uri="{9D8B030D-6E8A-4147-A177-3AD203B41FA5}">
                      <a16:colId xmlns:a16="http://schemas.microsoft.com/office/drawing/2014/main" val="3069614551"/>
                    </a:ext>
                  </a:extLst>
                </a:gridCol>
                <a:gridCol w="2682910">
                  <a:extLst>
                    <a:ext uri="{9D8B030D-6E8A-4147-A177-3AD203B41FA5}">
                      <a16:colId xmlns:a16="http://schemas.microsoft.com/office/drawing/2014/main" val="3702835858"/>
                    </a:ext>
                  </a:extLst>
                </a:gridCol>
                <a:gridCol w="3580563">
                  <a:extLst>
                    <a:ext uri="{9D8B030D-6E8A-4147-A177-3AD203B41FA5}">
                      <a16:colId xmlns:a16="http://schemas.microsoft.com/office/drawing/2014/main" val="2876072234"/>
                    </a:ext>
                  </a:extLst>
                </a:gridCol>
              </a:tblGrid>
              <a:tr h="840441">
                <a:tc>
                  <a:txBody>
                    <a:bodyPr/>
                    <a:lstStyle/>
                    <a:p>
                      <a:pPr algn="l"/>
                      <a:endParaRPr lang="en-US" sz="2000" b="0"/>
                    </a:p>
                    <a:p>
                      <a:pPr lvl="0" algn="l">
                        <a:buNone/>
                      </a:pPr>
                      <a:r>
                        <a:rPr lang="en-US" sz="2000" b="0"/>
                        <a:t>Paper Title</a:t>
                      </a:r>
                    </a:p>
                  </a:txBody>
                  <a:tcPr/>
                </a:tc>
                <a:tc>
                  <a:txBody>
                    <a:bodyPr/>
                    <a:lstStyle/>
                    <a:p>
                      <a:pPr algn="l"/>
                      <a:endParaRPr lang="en-US" sz="2000" b="0"/>
                    </a:p>
                    <a:p>
                      <a:pPr lvl="0" algn="l">
                        <a:buNone/>
                      </a:pPr>
                      <a:r>
                        <a:rPr lang="en-US" sz="2000" b="0"/>
                        <a:t>Problem Addressed </a:t>
                      </a:r>
                    </a:p>
                  </a:txBody>
                  <a:tcPr/>
                </a:tc>
                <a:tc>
                  <a:txBody>
                    <a:bodyPr/>
                    <a:lstStyle/>
                    <a:p>
                      <a:pPr algn="l"/>
                      <a:endParaRPr lang="en-US" sz="2000" b="0"/>
                    </a:p>
                    <a:p>
                      <a:pPr lvl="0" algn="l">
                        <a:buNone/>
                      </a:pPr>
                      <a:r>
                        <a:rPr lang="en-US" sz="2000" b="0"/>
                        <a:t>Methodology</a:t>
                      </a:r>
                    </a:p>
                  </a:txBody>
                  <a:tcPr/>
                </a:tc>
                <a:tc>
                  <a:txBody>
                    <a:bodyPr/>
                    <a:lstStyle/>
                    <a:p>
                      <a:pPr algn="l"/>
                      <a:endParaRPr lang="en-US" sz="2000" b="0" dirty="0"/>
                    </a:p>
                    <a:p>
                      <a:pPr lvl="0" algn="l">
                        <a:buNone/>
                      </a:pPr>
                      <a:r>
                        <a:rPr lang="en-US" sz="2000" b="0" dirty="0"/>
                        <a:t>Final Outcome</a:t>
                      </a:r>
                    </a:p>
                  </a:txBody>
                  <a:tcPr/>
                </a:tc>
                <a:tc>
                  <a:txBody>
                    <a:bodyPr/>
                    <a:lstStyle/>
                    <a:p>
                      <a:pPr algn="l"/>
                      <a:endParaRPr lang="en-US" sz="2000" b="0" dirty="0"/>
                    </a:p>
                    <a:p>
                      <a:pPr lvl="0" algn="l">
                        <a:buNone/>
                      </a:pPr>
                      <a:r>
                        <a:rPr lang="en-US" sz="2000" b="0" dirty="0"/>
                        <a:t>Gaps Identified </a:t>
                      </a:r>
                    </a:p>
                  </a:txBody>
                  <a:tcPr/>
                </a:tc>
                <a:extLst>
                  <a:ext uri="{0D108BD9-81ED-4DB2-BD59-A6C34878D82A}">
                    <a16:rowId xmlns:a16="http://schemas.microsoft.com/office/drawing/2014/main" val="2985751838"/>
                  </a:ext>
                </a:extLst>
              </a:tr>
              <a:tr h="1129832">
                <a:tc>
                  <a:txBody>
                    <a:bodyPr/>
                    <a:lstStyle/>
                    <a:p>
                      <a:pPr lvl="0" algn="l">
                        <a:buNone/>
                      </a:pPr>
                      <a:r>
                        <a:rPr lang="en-IN" sz="1400" b="0" dirty="0"/>
                        <a:t>A Quartic Polynomial Based Approach for Multi-Sinusoidal Frequency Estimation</a:t>
                      </a:r>
                      <a:endParaRPr lang="en-US" sz="1400" b="0" dirty="0"/>
                    </a:p>
                  </a:txBody>
                  <a:tcPr/>
                </a:tc>
                <a:tc>
                  <a:txBody>
                    <a:bodyPr/>
                    <a:lstStyle/>
                    <a:p>
                      <a:pPr lvl="0" algn="l">
                        <a:buNone/>
                      </a:pPr>
                      <a:r>
                        <a:rPr lang="en-IN" sz="1400" b="0" dirty="0"/>
                        <a:t>Accurate frequency estimation of signals containing multiple sinusoidal components.</a:t>
                      </a:r>
                      <a:endParaRPr lang="en-US" sz="1400" b="0" dirty="0"/>
                    </a:p>
                  </a:txBody>
                  <a:tcPr/>
                </a:tc>
                <a:tc>
                  <a:txBody>
                    <a:bodyPr/>
                    <a:lstStyle/>
                    <a:p>
                      <a:pPr lvl="0" algn="l">
                        <a:buNone/>
                      </a:pPr>
                      <a:r>
                        <a:rPr lang="en-IN" sz="1400" b="0" dirty="0"/>
                        <a:t>Developed a Quartic Polynomial Estimation (QPE) approach for estimating sinusoidal frequencies through polynomial-based mathematical analysis.</a:t>
                      </a:r>
                      <a:endParaRPr lang="en-US" sz="1400" b="0" dirty="0"/>
                    </a:p>
                  </a:txBody>
                  <a:tcPr/>
                </a:tc>
                <a:tc>
                  <a:txBody>
                    <a:bodyPr/>
                    <a:lstStyle/>
                    <a:p>
                      <a:pPr lvl="0" algn="l">
                        <a:lnSpc>
                          <a:spcPct val="100000"/>
                        </a:lnSpc>
                        <a:spcBef>
                          <a:spcPts val="0"/>
                        </a:spcBef>
                        <a:spcAft>
                          <a:spcPts val="0"/>
                        </a:spcAft>
                        <a:buNone/>
                      </a:pPr>
                      <a:r>
                        <a:rPr lang="en-IN" sz="1400" b="0" dirty="0"/>
                        <a:t>• Demonstrated a quartic polynomial-based approach for multi-sinusoidal frequency estimation.</a:t>
                      </a:r>
                      <a:br>
                        <a:rPr lang="en-IN" sz="1400" b="0" dirty="0"/>
                      </a:br>
                      <a:r>
                        <a:rPr lang="en-IN" sz="1400" b="0" dirty="0"/>
                        <a:t>• Provided a mathematical basis for accurate frequency estimation.</a:t>
                      </a:r>
                      <a:endParaRPr lang="en-US" sz="1400" b="0" dirty="0"/>
                    </a:p>
                  </a:txBody>
                  <a:tcPr/>
                </a:tc>
                <a:tc>
                  <a:txBody>
                    <a:bodyPr/>
                    <a:lstStyle/>
                    <a:p>
                      <a:pPr lvl="0" algn="l">
                        <a:buNone/>
                      </a:pPr>
                      <a:r>
                        <a:rPr lang="en-IN" sz="1400" b="0" dirty="0"/>
                        <a:t>• Focuses mainly on the estimation algorithm.</a:t>
                      </a:r>
                      <a:br>
                        <a:rPr lang="en-IN" sz="1400" b="0" dirty="0"/>
                      </a:br>
                      <a:r>
                        <a:rPr lang="en-IN" sz="1400" b="0" dirty="0"/>
                        <a:t>• Does not specifically address integration with a complete 2D FFT-based FPGA architecture.</a:t>
                      </a:r>
                      <a:br>
                        <a:rPr lang="en-IN" sz="1400" b="0" dirty="0"/>
                      </a:br>
                      <a:r>
                        <a:rPr lang="en-IN" sz="1400" b="0" dirty="0"/>
                        <a:t>• Hardware resource and real-time implementation aspects require further study.</a:t>
                      </a:r>
                      <a:endParaRPr lang="en-US" sz="1400" b="0" dirty="0"/>
                    </a:p>
                  </a:txBody>
                  <a:tcPr/>
                </a:tc>
                <a:extLst>
                  <a:ext uri="{0D108BD9-81ED-4DB2-BD59-A6C34878D82A}">
                    <a16:rowId xmlns:a16="http://schemas.microsoft.com/office/drawing/2014/main" val="389905486"/>
                  </a:ext>
                </a:extLst>
              </a:tr>
              <a:tr h="937962">
                <a:tc>
                  <a:txBody>
                    <a:bodyPr/>
                    <a:lstStyle/>
                    <a:p>
                      <a:pPr lvl="0" algn="l">
                        <a:buNone/>
                      </a:pPr>
                      <a:r>
                        <a:rPr lang="en-IN" sz="1400" b="0" dirty="0"/>
                        <a:t>FPGA Implementation of Efficient 2D-FFT Beamforming for On-Board Processing in Satellites</a:t>
                      </a:r>
                      <a:endParaRPr lang="en-US" sz="1400" b="0" dirty="0"/>
                    </a:p>
                  </a:txBody>
                  <a:tcPr/>
                </a:tc>
                <a:tc>
                  <a:txBody>
                    <a:bodyPr/>
                    <a:lstStyle/>
                    <a:p>
                      <a:pPr lvl="0" algn="l">
                        <a:buNone/>
                      </a:pPr>
                      <a:r>
                        <a:rPr lang="en-IN" sz="1400" b="0" dirty="0"/>
                        <a:t>Efficient implementation of computationally intensive 2D FFT processing for beamforming applications.</a:t>
                      </a:r>
                      <a:endParaRPr lang="en-US" sz="1400" b="0" dirty="0"/>
                    </a:p>
                  </a:txBody>
                  <a:tcPr/>
                </a:tc>
                <a:tc>
                  <a:txBody>
                    <a:bodyPr/>
                    <a:lstStyle/>
                    <a:p>
                      <a:pPr lvl="0" algn="l">
                        <a:buNone/>
                      </a:pPr>
                      <a:r>
                        <a:rPr lang="en-IN" sz="1400" b="0" dirty="0"/>
                        <a:t>Implemented an efficient 2D FFT-based beamforming architecture on FPGA for high-performance on-board processing.</a:t>
                      </a:r>
                      <a:endParaRPr lang="en-US" sz="1400" b="0" dirty="0"/>
                    </a:p>
                  </a:txBody>
                  <a:tcPr/>
                </a:tc>
                <a:tc>
                  <a:txBody>
                    <a:bodyPr/>
                    <a:lstStyle/>
                    <a:p>
                      <a:pPr lvl="0" algn="l">
                        <a:lnSpc>
                          <a:spcPct val="100000"/>
                        </a:lnSpc>
                        <a:spcBef>
                          <a:spcPts val="0"/>
                        </a:spcBef>
                        <a:spcAft>
                          <a:spcPts val="0"/>
                        </a:spcAft>
                        <a:buNone/>
                      </a:pPr>
                      <a:r>
                        <a:rPr lang="en-IN" sz="1400" b="0" dirty="0"/>
                        <a:t>• Demonstrated the feasibility of FPGA-based 2D FFT processing.</a:t>
                      </a:r>
                      <a:br>
                        <a:rPr lang="en-IN" sz="1400" b="0" dirty="0"/>
                      </a:br>
                      <a:r>
                        <a:rPr lang="en-IN" sz="1400" b="0" dirty="0"/>
                        <a:t>• Showed the importance of efficient hardware architecture for high-speed signal processing.</a:t>
                      </a:r>
                      <a:endParaRPr lang="en-US" sz="1400" b="0" dirty="0"/>
                    </a:p>
                  </a:txBody>
                  <a:tcPr/>
                </a:tc>
                <a:tc>
                  <a:txBody>
                    <a:bodyPr/>
                    <a:lstStyle/>
                    <a:p>
                      <a:pPr lvl="0" algn="l">
                        <a:buNone/>
                      </a:pPr>
                      <a:r>
                        <a:rPr lang="en-IN" sz="1400" b="0" dirty="0"/>
                        <a:t>• Focused specifically on satellite beamforming.</a:t>
                      </a:r>
                      <a:br>
                        <a:rPr lang="en-IN" sz="1400" b="0" dirty="0"/>
                      </a:br>
                      <a:r>
                        <a:rPr lang="en-IN" sz="1400" b="0" dirty="0"/>
                        <a:t>• Does not focus on Quartic Polynomial Estimation.</a:t>
                      </a:r>
                      <a:br>
                        <a:rPr lang="en-IN" sz="1400" b="0" dirty="0"/>
                      </a:br>
                      <a:r>
                        <a:rPr lang="en-IN" sz="1400" b="0" dirty="0"/>
                        <a:t>• Further work is needed for integrating frequency estimation with 2D FFT for RF spectral analysis.</a:t>
                      </a:r>
                      <a:endParaRPr lang="en-US" sz="1400" b="0" dirty="0"/>
                    </a:p>
                  </a:txBody>
                  <a:tcPr/>
                </a:tc>
                <a:extLst>
                  <a:ext uri="{0D108BD9-81ED-4DB2-BD59-A6C34878D82A}">
                    <a16:rowId xmlns:a16="http://schemas.microsoft.com/office/drawing/2014/main" val="3986928269"/>
                  </a:ext>
                </a:extLst>
              </a:tr>
              <a:tr h="1203919">
                <a:tc>
                  <a:txBody>
                    <a:bodyPr/>
                    <a:lstStyle/>
                    <a:p>
                      <a:pPr lvl="0" algn="l">
                        <a:buNone/>
                      </a:pPr>
                      <a:r>
                        <a:rPr lang="en-IN" sz="1400" b="0" dirty="0"/>
                        <a:t>Implementation of a Two-Dimensional FFT/IFFT Processor for Real-Time High-Resolution Synthetic Aperture Radar</a:t>
                      </a:r>
                      <a:endParaRPr lang="en-US" sz="1400" b="0" dirty="0"/>
                    </a:p>
                  </a:txBody>
                  <a:tcPr/>
                </a:tc>
                <a:tc>
                  <a:txBody>
                    <a:bodyPr/>
                    <a:lstStyle/>
                    <a:p>
                      <a:pPr lvl="0" algn="l">
                        <a:buNone/>
                      </a:pPr>
                      <a:r>
                        <a:rPr lang="en-IN" sz="1400" b="0" dirty="0"/>
                        <a:t>Real-time processing requirements for high-resolution SAR imaging using 2D FFT/IFFT operations.</a:t>
                      </a:r>
                      <a:endParaRPr lang="en-US" sz="1400" b="0" dirty="0"/>
                    </a:p>
                  </a:txBody>
                  <a:tcPr/>
                </a:tc>
                <a:tc>
                  <a:txBody>
                    <a:bodyPr/>
                    <a:lstStyle/>
                    <a:p>
                      <a:pPr lvl="0" algn="l">
                        <a:buNone/>
                      </a:pPr>
                      <a:r>
                        <a:rPr lang="en-IN" sz="1400" b="0" dirty="0"/>
                        <a:t>Designed and implemented a 2D FFT/IFFT processor architecture suitable for real-time high-resolution processing.</a:t>
                      </a:r>
                      <a:endParaRPr lang="en-US" sz="1400" b="0" dirty="0"/>
                    </a:p>
                  </a:txBody>
                  <a:tcPr/>
                </a:tc>
                <a:tc>
                  <a:txBody>
                    <a:bodyPr/>
                    <a:lstStyle/>
                    <a:p>
                      <a:pPr lvl="0" algn="l">
                        <a:lnSpc>
                          <a:spcPct val="100000"/>
                        </a:lnSpc>
                        <a:spcBef>
                          <a:spcPts val="0"/>
                        </a:spcBef>
                        <a:spcAft>
                          <a:spcPts val="0"/>
                        </a:spcAft>
                        <a:buNone/>
                      </a:pPr>
                      <a:r>
                        <a:rPr lang="en-IN" sz="1400" b="0" dirty="0"/>
                        <a:t>• Demonstrated a hardware-oriented 2D FFT/IFFT processing approach.</a:t>
                      </a:r>
                      <a:br>
                        <a:rPr lang="en-IN" sz="1400" b="0" dirty="0"/>
                      </a:br>
                      <a:r>
                        <a:rPr lang="en-IN" sz="1400" b="0" dirty="0"/>
                        <a:t>• Established the importance of efficient architecture for real-time multidimensional.</a:t>
                      </a:r>
                      <a:endParaRPr lang="en-US" sz="1400" b="0" i="0" u="none" strike="noStrike" noProof="0" dirty="0">
                        <a:latin typeface="Calibri"/>
                        <a:ea typeface="Calibri"/>
                        <a:cs typeface="Calibri"/>
                      </a:endParaRPr>
                    </a:p>
                  </a:txBody>
                  <a:tcPr/>
                </a:tc>
                <a:tc>
                  <a:txBody>
                    <a:bodyPr/>
                    <a:lstStyle/>
                    <a:p>
                      <a:pPr lvl="0" algn="l">
                        <a:buNone/>
                      </a:pPr>
                      <a:r>
                        <a:rPr lang="en-IN" sz="1400" b="0" dirty="0"/>
                        <a:t>• Application is focused on SAR imaging.</a:t>
                      </a:r>
                      <a:br>
                        <a:rPr lang="en-IN" sz="1400" b="0" dirty="0"/>
                      </a:br>
                      <a:r>
                        <a:rPr lang="en-IN" sz="1400" b="0" dirty="0"/>
                        <a:t>• Does not address Quartic Polynomial-based frequency estimation.</a:t>
                      </a:r>
                      <a:br>
                        <a:rPr lang="en-IN" sz="1400" b="0" dirty="0"/>
                      </a:br>
                      <a:r>
                        <a:rPr lang="en-IN" sz="1400" b="0" dirty="0"/>
                        <a:t>• RF-specific spectral estimation and QPE integration remain opportunities for further investigation.</a:t>
                      </a:r>
                      <a:endParaRPr lang="en-US" sz="1400" b="0" dirty="0"/>
                    </a:p>
                  </a:txBody>
                  <a:tcPr/>
                </a:tc>
                <a:extLst>
                  <a:ext uri="{0D108BD9-81ED-4DB2-BD59-A6C34878D82A}">
                    <a16:rowId xmlns:a16="http://schemas.microsoft.com/office/drawing/2014/main" val="969856559"/>
                  </a:ext>
                </a:extLst>
              </a:tr>
              <a:tr h="2101102">
                <a:tc>
                  <a:txBody>
                    <a:bodyPr/>
                    <a:lstStyle/>
                    <a:p>
                      <a:pPr lvl="0" algn="l">
                        <a:buNone/>
                      </a:pPr>
                      <a:r>
                        <a:rPr lang="en-IN" sz="1400" b="0" dirty="0"/>
                        <a:t>FPGA Architecture for 2D Discrete Fourier Transform Based on 2D Decomposition for Large-Sized Data</a:t>
                      </a:r>
                      <a:endParaRPr lang="en-US" sz="1400" b="0" dirty="0"/>
                    </a:p>
                  </a:txBody>
                  <a:tcPr/>
                </a:tc>
                <a:tc>
                  <a:txBody>
                    <a:bodyPr/>
                    <a:lstStyle/>
                    <a:p>
                      <a:pPr lvl="0" algn="l">
                        <a:buNone/>
                      </a:pPr>
                      <a:r>
                        <a:rPr lang="en-IN" sz="1400" b="0" dirty="0"/>
                        <a:t>Efficient FPGA implementation of large-sized 2D Discrete Fourier Transform operations.</a:t>
                      </a:r>
                      <a:endParaRPr lang="en-US" sz="1400" b="0" dirty="0"/>
                    </a:p>
                  </a:txBody>
                  <a:tcPr/>
                </a:tc>
                <a:tc>
                  <a:txBody>
                    <a:bodyPr/>
                    <a:lstStyle/>
                    <a:p>
                      <a:pPr lvl="0" algn="l">
                        <a:buNone/>
                      </a:pPr>
                      <a:r>
                        <a:rPr lang="en-IN" sz="1400" b="0" dirty="0"/>
                        <a:t>Proposed an FPGA architecture based on 2D decomposition to organize and process large-sized multidimensional data.</a:t>
                      </a:r>
                      <a:r>
                        <a:rPr lang="en-US" sz="1400" b="0" i="0" u="none" strike="noStrike" noProof="0" dirty="0">
                          <a:latin typeface="Calibri"/>
                          <a:ea typeface="Calibri"/>
                          <a:cs typeface="Calibri"/>
                        </a:rPr>
                        <a:t> </a:t>
                      </a:r>
                      <a:endParaRPr lang="en-US" sz="1400" b="0" dirty="0"/>
                    </a:p>
                  </a:txBody>
                  <a:tcPr/>
                </a:tc>
                <a:tc>
                  <a:txBody>
                    <a:bodyPr/>
                    <a:lstStyle/>
                    <a:p>
                      <a:pPr lvl="0" algn="l">
                        <a:lnSpc>
                          <a:spcPct val="100000"/>
                        </a:lnSpc>
                        <a:spcBef>
                          <a:spcPts val="0"/>
                        </a:spcBef>
                        <a:spcAft>
                          <a:spcPts val="0"/>
                        </a:spcAft>
                        <a:buNone/>
                      </a:pPr>
                      <a:r>
                        <a:rPr lang="en-IN" sz="1400" b="0" dirty="0"/>
                        <a:t>• Demonstrated an FPGA-oriented architecture for large-sized 2D transform processing.</a:t>
                      </a:r>
                      <a:br>
                        <a:rPr lang="en-IN" sz="1400" b="0" dirty="0"/>
                      </a:br>
                      <a:r>
                        <a:rPr lang="en-IN" sz="1400" b="0" dirty="0"/>
                        <a:t>• Showed the usefulness of decomposition for scalable multidimensional computation.</a:t>
                      </a:r>
                      <a:endParaRPr lang="en-US" sz="1400" b="0" dirty="0"/>
                    </a:p>
                  </a:txBody>
                  <a:tcPr/>
                </a:tc>
                <a:tc>
                  <a:txBody>
                    <a:bodyPr/>
                    <a:lstStyle/>
                    <a:p>
                      <a:pPr lvl="0" algn="l">
                        <a:lnSpc>
                          <a:spcPct val="100000"/>
                        </a:lnSpc>
                        <a:spcBef>
                          <a:spcPts val="0"/>
                        </a:spcBef>
                        <a:spcAft>
                          <a:spcPts val="0"/>
                        </a:spcAft>
                        <a:buNone/>
                      </a:pPr>
                      <a:r>
                        <a:rPr lang="en-IN" sz="1400" b="0" dirty="0"/>
                        <a:t>• Focuses on 2D DFT architecture rather than QPE-based frequency estimation.</a:t>
                      </a:r>
                      <a:br>
                        <a:rPr lang="en-IN" sz="1400" b="0" dirty="0"/>
                      </a:br>
                      <a:r>
                        <a:rPr lang="en-IN" sz="1400" b="0" dirty="0"/>
                        <a:t>• Further optimization can investigate FFT-based implementations and FPGA resource efficiency.</a:t>
                      </a:r>
                      <a:br>
                        <a:rPr lang="en-IN" sz="1400" b="0" dirty="0"/>
                      </a:br>
                      <a:r>
                        <a:rPr lang="en-IN" sz="1400" b="0" dirty="0"/>
                        <a:t>• Does not address integration with RF frequency estimation.</a:t>
                      </a:r>
                      <a:endParaRPr lang="en-US" sz="1400" b="0" i="0" u="none" strike="noStrike" noProof="0" dirty="0">
                        <a:latin typeface="Calibri"/>
                        <a:ea typeface="Calibri"/>
                        <a:cs typeface="Calibri"/>
                      </a:endParaRPr>
                    </a:p>
                    <a:p>
                      <a:pPr lvl="0" algn="l">
                        <a:buNone/>
                      </a:pPr>
                      <a:endParaRPr lang="en-US" sz="1400" b="0" dirty="0"/>
                    </a:p>
                  </a:txBody>
                  <a:tcPr/>
                </a:tc>
                <a:extLst>
                  <a:ext uri="{0D108BD9-81ED-4DB2-BD59-A6C34878D82A}">
                    <a16:rowId xmlns:a16="http://schemas.microsoft.com/office/drawing/2014/main" val="1176213033"/>
                  </a:ext>
                </a:extLst>
              </a:tr>
            </a:tbl>
          </a:graphicData>
        </a:graphic>
      </p:graphicFrame>
    </p:spTree>
    <p:extLst>
      <p:ext uri="{BB962C8B-B14F-4D97-AF65-F5344CB8AC3E}">
        <p14:creationId xmlns:p14="http://schemas.microsoft.com/office/powerpoint/2010/main" val="3818711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DB8D-19F8-0D27-2E23-384B23EBEE1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8FB96A-6DE1-846D-E21A-4619136E5994}"/>
              </a:ext>
            </a:extLst>
          </p:cNvPr>
          <p:cNvSpPr>
            <a:spLocks noGrp="1"/>
          </p:cNvSpPr>
          <p:nvPr>
            <p:ph idx="1"/>
          </p:nvPr>
        </p:nvSpPr>
        <p:spPr>
          <a:xfrm>
            <a:off x="838200" y="1483981"/>
            <a:ext cx="10515600" cy="4351338"/>
          </a:xfrm>
        </p:spPr>
        <p:txBody>
          <a:bodyPr vert="horz" lIns="91440" tIns="45720" rIns="91440" bIns="45720" rtlCol="0" anchor="t">
            <a:normAutofit/>
          </a:bodyPr>
          <a:lstStyle/>
          <a:p>
            <a:pPr marL="0" indent="0">
              <a:buNone/>
            </a:pPr>
            <a:r>
              <a:rPr lang="en-IN" sz="1800" dirty="0"/>
              <a:t>RF signal analysis requires accurate and computationally efficient spectral processing.</a:t>
            </a:r>
          </a:p>
          <a:p>
            <a:pPr marL="0" indent="0">
              <a:buNone/>
            </a:pPr>
            <a:endParaRPr lang="en-IN" sz="1800" dirty="0"/>
          </a:p>
          <a:p>
            <a:pPr marL="0" indent="0">
              <a:buNone/>
            </a:pPr>
            <a:r>
              <a:rPr lang="en-IN" sz="1800" dirty="0"/>
              <a:t>Implementing 2D FFT and frequency-estimation techniques on FPGA involves challenges such as:</a:t>
            </a:r>
          </a:p>
          <a:p>
            <a:pPr lvl="0"/>
            <a:r>
              <a:rPr lang="en-IN" sz="1800" dirty="0"/>
              <a:t>High computational complexity </a:t>
            </a:r>
          </a:p>
          <a:p>
            <a:pPr lvl="0"/>
            <a:r>
              <a:rPr lang="en-IN" sz="1800" dirty="0"/>
              <a:t>Hardware resource utilization </a:t>
            </a:r>
          </a:p>
          <a:p>
            <a:pPr lvl="0"/>
            <a:r>
              <a:rPr lang="en-IN" sz="1800" dirty="0"/>
              <a:t>Memory requirements </a:t>
            </a:r>
          </a:p>
          <a:p>
            <a:pPr lvl="0"/>
            <a:r>
              <a:rPr lang="en-IN" sz="1800" dirty="0"/>
              <a:t>Fixed-point precision </a:t>
            </a:r>
          </a:p>
          <a:p>
            <a:pPr lvl="0"/>
            <a:r>
              <a:rPr lang="en-IN" sz="1800" dirty="0"/>
              <a:t>Processing latency </a:t>
            </a:r>
          </a:p>
          <a:p>
            <a:pPr lvl="0"/>
            <a:r>
              <a:rPr lang="en-IN" sz="1800" dirty="0"/>
              <a:t>Timing constraints </a:t>
            </a:r>
          </a:p>
          <a:p>
            <a:pPr marL="0" indent="0">
              <a:buNone/>
            </a:pPr>
            <a:r>
              <a:rPr lang="en-IN" sz="1800" dirty="0"/>
              <a:t>Therefore, an optimized and modular FPGA-oriented framework is required to perform efficient 2D FFT processing and accurate frequency estimation for RF signal analysis.</a:t>
            </a:r>
          </a:p>
          <a:p>
            <a:pPr marL="0" indent="0">
              <a:buNone/>
            </a:pPr>
            <a:endParaRPr lang="en-IN" sz="1800" dirty="0">
              <a:latin typeface="Times New Roman"/>
              <a:cs typeface="Times New Roman"/>
            </a:endParaRPr>
          </a:p>
        </p:txBody>
      </p:sp>
      <p:sp>
        <p:nvSpPr>
          <p:cNvPr id="4" name="Date Placeholder 3">
            <a:extLst>
              <a:ext uri="{FF2B5EF4-FFF2-40B4-BE49-F238E27FC236}">
                <a16:creationId xmlns:a16="http://schemas.microsoft.com/office/drawing/2014/main" id="{7950244E-B775-DA1B-FCE2-1A6A1DCD6714}"/>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62A08B90-6E0B-B07A-FD66-9171D6A74447}"/>
              </a:ext>
            </a:extLst>
          </p:cNvPr>
          <p:cNvSpPr>
            <a:spLocks noGrp="1"/>
          </p:cNvSpPr>
          <p:nvPr>
            <p:ph type="sldNum" sz="quarter" idx="12"/>
          </p:nvPr>
        </p:nvSpPr>
        <p:spPr/>
        <p:txBody>
          <a:bodyPr/>
          <a:lstStyle/>
          <a:p>
            <a:fld id="{C0898A6D-CD5C-4802-925B-E5FD8D219589}" type="slidenum">
              <a:rPr lang="en-IN" smtClean="0"/>
              <a:t>10</a:t>
            </a:fld>
            <a:endParaRPr lang="en-IN" dirty="0"/>
          </a:p>
        </p:txBody>
      </p:sp>
    </p:spTree>
    <p:extLst>
      <p:ext uri="{BB962C8B-B14F-4D97-AF65-F5344CB8AC3E}">
        <p14:creationId xmlns:p14="http://schemas.microsoft.com/office/powerpoint/2010/main" val="4010902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95F26-1E58-323F-5B4E-D0DEEA744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5BB80-7E72-CBCD-F45D-73B9096A4AE3}"/>
              </a:ext>
            </a:extLst>
          </p:cNvPr>
          <p:cNvSpPr>
            <a:spLocks noGrp="1"/>
          </p:cNvSpPr>
          <p:nvPr>
            <p:ph type="title"/>
          </p:nvPr>
        </p:nvSpPr>
        <p:spPr>
          <a:xfrm>
            <a:off x="838200" y="-92022"/>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Proposed Architecture Blocks: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7F249B-3F25-AAA3-069F-D806247D4582}"/>
              </a:ext>
            </a:extLst>
          </p:cNvPr>
          <p:cNvSpPr>
            <a:spLocks noGrp="1"/>
          </p:cNvSpPr>
          <p:nvPr>
            <p:ph idx="1"/>
          </p:nvPr>
        </p:nvSpPr>
        <p:spPr>
          <a:xfrm>
            <a:off x="838200" y="997867"/>
            <a:ext cx="10515600" cy="2254006"/>
          </a:xfrm>
        </p:spPr>
        <p:txBody>
          <a:bodyPr vert="horz" lIns="91440" tIns="45720" rIns="91440" bIns="45720" rtlCol="0" anchor="t">
            <a:normAutofit fontScale="92500" lnSpcReduction="20000"/>
          </a:bodyPr>
          <a:lstStyle/>
          <a:p>
            <a:pPr lvl="0"/>
            <a:r>
              <a:rPr lang="en-IN" sz="1800" dirty="0"/>
              <a:t>Input Interface </a:t>
            </a:r>
          </a:p>
          <a:p>
            <a:pPr lvl="0"/>
            <a:r>
              <a:rPr lang="en-IN" sz="1800" dirty="0"/>
              <a:t>FFT Processing Unit </a:t>
            </a:r>
          </a:p>
          <a:p>
            <a:pPr lvl="0"/>
            <a:r>
              <a:rPr lang="en-IN" sz="1800" dirty="0"/>
              <a:t>Arithmetic Units </a:t>
            </a:r>
          </a:p>
          <a:p>
            <a:pPr lvl="0"/>
            <a:r>
              <a:rPr lang="en-IN" sz="1800" dirty="0"/>
              <a:t>Memory Buffers </a:t>
            </a:r>
          </a:p>
          <a:p>
            <a:pPr lvl="0"/>
            <a:r>
              <a:rPr lang="en-IN" sz="1800" dirty="0"/>
              <a:t>QPE Processing Unit </a:t>
            </a:r>
          </a:p>
          <a:p>
            <a:pPr lvl="0"/>
            <a:r>
              <a:rPr lang="en-IN" sz="1800" dirty="0"/>
              <a:t>Control Logic </a:t>
            </a:r>
          </a:p>
          <a:p>
            <a:pPr lvl="0"/>
            <a:r>
              <a:rPr lang="en-IN" sz="1800" dirty="0"/>
              <a:t>Output Interface</a:t>
            </a:r>
          </a:p>
        </p:txBody>
      </p:sp>
      <p:sp>
        <p:nvSpPr>
          <p:cNvPr id="4" name="Date Placeholder 3">
            <a:extLst>
              <a:ext uri="{FF2B5EF4-FFF2-40B4-BE49-F238E27FC236}">
                <a16:creationId xmlns:a16="http://schemas.microsoft.com/office/drawing/2014/main" id="{566A9989-3C97-1588-437F-DF2E721B6E16}"/>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D881CFD5-89C8-7FBE-F7A2-69758909D6B3}"/>
              </a:ext>
            </a:extLst>
          </p:cNvPr>
          <p:cNvSpPr>
            <a:spLocks noGrp="1"/>
          </p:cNvSpPr>
          <p:nvPr>
            <p:ph type="sldNum" sz="quarter" idx="12"/>
          </p:nvPr>
        </p:nvSpPr>
        <p:spPr/>
        <p:txBody>
          <a:bodyPr/>
          <a:lstStyle/>
          <a:p>
            <a:fld id="{C0898A6D-CD5C-4802-925B-E5FD8D219589}" type="slidenum">
              <a:rPr lang="en-IN" smtClean="0"/>
              <a:t>11</a:t>
            </a:fld>
            <a:endParaRPr lang="en-IN" dirty="0"/>
          </a:p>
        </p:txBody>
      </p:sp>
      <p:sp>
        <p:nvSpPr>
          <p:cNvPr id="6" name="Title 1">
            <a:extLst>
              <a:ext uri="{FF2B5EF4-FFF2-40B4-BE49-F238E27FC236}">
                <a16:creationId xmlns:a16="http://schemas.microsoft.com/office/drawing/2014/main" id="{1CCE0DB5-8E08-AFEE-4C85-7767971B0EB3}"/>
              </a:ext>
            </a:extLst>
          </p:cNvPr>
          <p:cNvSpPr txBox="1">
            <a:spLocks/>
          </p:cNvSpPr>
          <p:nvPr/>
        </p:nvSpPr>
        <p:spPr>
          <a:xfrm>
            <a:off x="838200" y="324813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t>Methodology</a:t>
            </a:r>
            <a:endParaRPr lang="en-IN" sz="4000"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97BE71B1-A6DE-8372-24D1-2F1490C753F7}"/>
              </a:ext>
            </a:extLst>
          </p:cNvPr>
          <p:cNvSpPr txBox="1">
            <a:spLocks/>
          </p:cNvSpPr>
          <p:nvPr/>
        </p:nvSpPr>
        <p:spPr>
          <a:xfrm>
            <a:off x="838200" y="4238869"/>
            <a:ext cx="10515600" cy="2254006"/>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IN" sz="1800" dirty="0"/>
              <a:t>Study 2D FFT and QPE algorithms. </a:t>
            </a:r>
          </a:p>
          <a:p>
            <a:pPr lvl="0"/>
            <a:r>
              <a:rPr lang="en-IN" sz="1800" dirty="0"/>
              <a:t>Mathematically analyse and optimize the algorithms. </a:t>
            </a:r>
          </a:p>
          <a:p>
            <a:pPr lvl="0"/>
            <a:r>
              <a:rPr lang="en-IN" sz="1800" dirty="0"/>
              <a:t>Perform fixed-point analysis. </a:t>
            </a:r>
          </a:p>
          <a:p>
            <a:pPr lvl="0"/>
            <a:r>
              <a:rPr lang="en-IN" sz="1800" dirty="0"/>
              <a:t>Design modular FPGA-compatible architecture. </a:t>
            </a:r>
          </a:p>
          <a:p>
            <a:pPr lvl="0"/>
            <a:r>
              <a:rPr lang="en-IN" sz="1800" dirty="0"/>
              <a:t>Simulate using sinusoidal test signals. </a:t>
            </a:r>
          </a:p>
          <a:p>
            <a:pPr lvl="0"/>
            <a:r>
              <a:rPr lang="en-IN" sz="1800" dirty="0"/>
              <a:t>Verify accuracy and spectral output. </a:t>
            </a:r>
          </a:p>
          <a:p>
            <a:pPr lvl="0"/>
            <a:r>
              <a:rPr lang="en-IN" sz="1800" dirty="0"/>
              <a:t>Prepare the design for FPGA implementation.</a:t>
            </a:r>
          </a:p>
        </p:txBody>
      </p:sp>
      <p:pic>
        <p:nvPicPr>
          <p:cNvPr id="9" name="Picture 8">
            <a:extLst>
              <a:ext uri="{FF2B5EF4-FFF2-40B4-BE49-F238E27FC236}">
                <a16:creationId xmlns:a16="http://schemas.microsoft.com/office/drawing/2014/main" id="{E3C5452F-5B2A-A356-EE8A-FFF9686E0044}"/>
              </a:ext>
            </a:extLst>
          </p:cNvPr>
          <p:cNvPicPr>
            <a:picLocks noChangeAspect="1"/>
          </p:cNvPicPr>
          <p:nvPr/>
        </p:nvPicPr>
        <p:blipFill>
          <a:blip r:embed="rId2"/>
          <a:stretch>
            <a:fillRect/>
          </a:stretch>
        </p:blipFill>
        <p:spPr>
          <a:xfrm>
            <a:off x="7853499" y="809706"/>
            <a:ext cx="2743200" cy="5911769"/>
          </a:xfrm>
          <a:prstGeom prst="rect">
            <a:avLst/>
          </a:prstGeom>
        </p:spPr>
      </p:pic>
    </p:spTree>
    <p:extLst>
      <p:ext uri="{BB962C8B-B14F-4D97-AF65-F5344CB8AC3E}">
        <p14:creationId xmlns:p14="http://schemas.microsoft.com/office/powerpoint/2010/main" val="235026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9DC5-725B-48E5-6A87-4101BC53726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TIMELINE</a:t>
            </a:r>
            <a:endParaRPr lang="en-IN" sz="4000" dirty="0"/>
          </a:p>
        </p:txBody>
      </p:sp>
      <p:sp>
        <p:nvSpPr>
          <p:cNvPr id="5" name="Slide Number Placeholder 4">
            <a:extLst>
              <a:ext uri="{FF2B5EF4-FFF2-40B4-BE49-F238E27FC236}">
                <a16:creationId xmlns:a16="http://schemas.microsoft.com/office/drawing/2014/main" id="{D05019BD-061D-A084-B497-8504D05B2085}"/>
              </a:ext>
            </a:extLst>
          </p:cNvPr>
          <p:cNvSpPr>
            <a:spLocks noGrp="1"/>
          </p:cNvSpPr>
          <p:nvPr>
            <p:ph type="sldNum" sz="quarter" idx="12"/>
          </p:nvPr>
        </p:nvSpPr>
        <p:spPr/>
        <p:txBody>
          <a:bodyPr/>
          <a:lstStyle/>
          <a:p>
            <a:fld id="{C0898A6D-CD5C-4802-925B-E5FD8D219589}" type="slidenum">
              <a:rPr lang="en-IN" smtClean="0"/>
              <a:t>12</a:t>
            </a:fld>
            <a:endParaRPr lang="en-IN" dirty="0"/>
          </a:p>
        </p:txBody>
      </p:sp>
      <p:graphicFrame>
        <p:nvGraphicFramePr>
          <p:cNvPr id="6" name="Content Placeholder 5">
            <a:extLst>
              <a:ext uri="{FF2B5EF4-FFF2-40B4-BE49-F238E27FC236}">
                <a16:creationId xmlns:a16="http://schemas.microsoft.com/office/drawing/2014/main" id="{132E915F-76ED-68D2-7825-547CFE46C5BB}"/>
              </a:ext>
            </a:extLst>
          </p:cNvPr>
          <p:cNvGraphicFramePr>
            <a:graphicFrameLocks noGrp="1"/>
          </p:cNvGraphicFramePr>
          <p:nvPr>
            <p:ph idx="1"/>
            <p:extLst>
              <p:ext uri="{D42A27DB-BD31-4B8C-83A1-F6EECF244321}">
                <p14:modId xmlns:p14="http://schemas.microsoft.com/office/powerpoint/2010/main" val="119079040"/>
              </p:ext>
            </p:extLst>
          </p:nvPr>
        </p:nvGraphicFramePr>
        <p:xfrm>
          <a:off x="838200" y="1632960"/>
          <a:ext cx="10515600" cy="3903684"/>
        </p:xfrm>
        <a:graphic>
          <a:graphicData uri="http://schemas.openxmlformats.org/drawingml/2006/table">
            <a:tbl>
              <a:tblPr>
                <a:tableStyleId>{5C22544A-7EE6-4342-B048-85BDC9FD1C3A}</a:tableStyleId>
              </a:tblPr>
              <a:tblGrid>
                <a:gridCol w="2226547">
                  <a:extLst>
                    <a:ext uri="{9D8B030D-6E8A-4147-A177-3AD203B41FA5}">
                      <a16:colId xmlns:a16="http://schemas.microsoft.com/office/drawing/2014/main" val="1216341171"/>
                    </a:ext>
                  </a:extLst>
                </a:gridCol>
                <a:gridCol w="8289053">
                  <a:extLst>
                    <a:ext uri="{9D8B030D-6E8A-4147-A177-3AD203B41FA5}">
                      <a16:colId xmlns:a16="http://schemas.microsoft.com/office/drawing/2014/main" val="1299946204"/>
                    </a:ext>
                  </a:extLst>
                </a:gridCol>
              </a:tblGrid>
              <a:tr h="650614">
                <a:tc>
                  <a:txBody>
                    <a:bodyPr/>
                    <a:lstStyle/>
                    <a:p>
                      <a:pPr>
                        <a:buNone/>
                      </a:pPr>
                      <a:r>
                        <a:rPr lang="en-IN"/>
                        <a:t>Month</a:t>
                      </a:r>
                    </a:p>
                  </a:txBody>
                  <a:tcPr anchor="ctr"/>
                </a:tc>
                <a:tc>
                  <a:txBody>
                    <a:bodyPr/>
                    <a:lstStyle/>
                    <a:p>
                      <a:pPr>
                        <a:buNone/>
                      </a:pPr>
                      <a:r>
                        <a:rPr lang="en-IN"/>
                        <a:t>Planned Work</a:t>
                      </a:r>
                    </a:p>
                  </a:txBody>
                  <a:tcPr anchor="ctr"/>
                </a:tc>
                <a:extLst>
                  <a:ext uri="{0D108BD9-81ED-4DB2-BD59-A6C34878D82A}">
                    <a16:rowId xmlns:a16="http://schemas.microsoft.com/office/drawing/2014/main" val="3684595311"/>
                  </a:ext>
                </a:extLst>
              </a:tr>
              <a:tr h="650614">
                <a:tc>
                  <a:txBody>
                    <a:bodyPr/>
                    <a:lstStyle/>
                    <a:p>
                      <a:pPr>
                        <a:buNone/>
                      </a:pPr>
                      <a:r>
                        <a:rPr lang="en-IN"/>
                        <a:t>July 2026</a:t>
                      </a:r>
                    </a:p>
                  </a:txBody>
                  <a:tcPr anchor="ctr"/>
                </a:tc>
                <a:tc>
                  <a:txBody>
                    <a:bodyPr/>
                    <a:lstStyle/>
                    <a:p>
                      <a:pPr>
                        <a:buNone/>
                      </a:pPr>
                      <a:r>
                        <a:rPr lang="en-IN"/>
                        <a:t>Literature survey, study of 2D FFT and QPE, mathematical formulation</a:t>
                      </a:r>
                    </a:p>
                  </a:txBody>
                  <a:tcPr anchor="ctr"/>
                </a:tc>
                <a:extLst>
                  <a:ext uri="{0D108BD9-81ED-4DB2-BD59-A6C34878D82A}">
                    <a16:rowId xmlns:a16="http://schemas.microsoft.com/office/drawing/2014/main" val="3043997907"/>
                  </a:ext>
                </a:extLst>
              </a:tr>
              <a:tr h="650614">
                <a:tc>
                  <a:txBody>
                    <a:bodyPr/>
                    <a:lstStyle/>
                    <a:p>
                      <a:pPr>
                        <a:buNone/>
                      </a:pPr>
                      <a:r>
                        <a:rPr lang="en-IN"/>
                        <a:t>August 2026</a:t>
                      </a:r>
                    </a:p>
                  </a:txBody>
                  <a:tcPr anchor="ctr"/>
                </a:tc>
                <a:tc>
                  <a:txBody>
                    <a:bodyPr/>
                    <a:lstStyle/>
                    <a:p>
                      <a:pPr>
                        <a:buNone/>
                      </a:pPr>
                      <a:r>
                        <a:rPr lang="en-IN"/>
                        <a:t>Algorithm optimization, fixed-point analysis, architecture design, initial simulation</a:t>
                      </a:r>
                    </a:p>
                  </a:txBody>
                  <a:tcPr anchor="ctr"/>
                </a:tc>
                <a:extLst>
                  <a:ext uri="{0D108BD9-81ED-4DB2-BD59-A6C34878D82A}">
                    <a16:rowId xmlns:a16="http://schemas.microsoft.com/office/drawing/2014/main" val="3401348369"/>
                  </a:ext>
                </a:extLst>
              </a:tr>
              <a:tr h="650614">
                <a:tc>
                  <a:txBody>
                    <a:bodyPr/>
                    <a:lstStyle/>
                    <a:p>
                      <a:pPr>
                        <a:buNone/>
                      </a:pPr>
                      <a:r>
                        <a:rPr lang="en-IN"/>
                        <a:t>September 2026</a:t>
                      </a:r>
                    </a:p>
                  </a:txBody>
                  <a:tcPr anchor="ctr"/>
                </a:tc>
                <a:tc>
                  <a:txBody>
                    <a:bodyPr/>
                    <a:lstStyle/>
                    <a:p>
                      <a:pPr>
                        <a:buNone/>
                      </a:pPr>
                      <a:r>
                        <a:rPr lang="en-IN"/>
                        <a:t>Development and verification of FPGA processing blocks</a:t>
                      </a:r>
                    </a:p>
                  </a:txBody>
                  <a:tcPr anchor="ctr"/>
                </a:tc>
                <a:extLst>
                  <a:ext uri="{0D108BD9-81ED-4DB2-BD59-A6C34878D82A}">
                    <a16:rowId xmlns:a16="http://schemas.microsoft.com/office/drawing/2014/main" val="4042601748"/>
                  </a:ext>
                </a:extLst>
              </a:tr>
              <a:tr h="650614">
                <a:tc>
                  <a:txBody>
                    <a:bodyPr/>
                    <a:lstStyle/>
                    <a:p>
                      <a:pPr>
                        <a:buNone/>
                      </a:pPr>
                      <a:r>
                        <a:rPr lang="en-IN"/>
                        <a:t>October 2026</a:t>
                      </a:r>
                    </a:p>
                  </a:txBody>
                  <a:tcPr anchor="ctr"/>
                </a:tc>
                <a:tc>
                  <a:txBody>
                    <a:bodyPr/>
                    <a:lstStyle/>
                    <a:p>
                      <a:pPr>
                        <a:buNone/>
                      </a:pPr>
                      <a:r>
                        <a:rPr lang="en-IN"/>
                        <a:t>Integration of IP blocks and system-level verification</a:t>
                      </a:r>
                    </a:p>
                  </a:txBody>
                  <a:tcPr anchor="ctr"/>
                </a:tc>
                <a:extLst>
                  <a:ext uri="{0D108BD9-81ED-4DB2-BD59-A6C34878D82A}">
                    <a16:rowId xmlns:a16="http://schemas.microsoft.com/office/drawing/2014/main" val="486006313"/>
                  </a:ext>
                </a:extLst>
              </a:tr>
              <a:tr h="650614">
                <a:tc>
                  <a:txBody>
                    <a:bodyPr/>
                    <a:lstStyle/>
                    <a:p>
                      <a:pPr>
                        <a:buNone/>
                      </a:pPr>
                      <a:r>
                        <a:rPr lang="en-IN"/>
                        <a:t>November 2026</a:t>
                      </a:r>
                    </a:p>
                  </a:txBody>
                  <a:tcPr anchor="ctr"/>
                </a:tc>
                <a:tc>
                  <a:txBody>
                    <a:bodyPr/>
                    <a:lstStyle/>
                    <a:p>
                      <a:pPr>
                        <a:buNone/>
                      </a:pPr>
                      <a:r>
                        <a:rPr lang="en-IN" dirty="0"/>
                        <a:t>Hardware validation, performance analysis, GUI development, documentation</a:t>
                      </a:r>
                    </a:p>
                  </a:txBody>
                  <a:tcPr anchor="ctr"/>
                </a:tc>
                <a:extLst>
                  <a:ext uri="{0D108BD9-81ED-4DB2-BD59-A6C34878D82A}">
                    <a16:rowId xmlns:a16="http://schemas.microsoft.com/office/drawing/2014/main" val="2514475661"/>
                  </a:ext>
                </a:extLst>
              </a:tr>
            </a:tbl>
          </a:graphicData>
        </a:graphic>
      </p:graphicFrame>
    </p:spTree>
    <p:extLst>
      <p:ext uri="{BB962C8B-B14F-4D97-AF65-F5344CB8AC3E}">
        <p14:creationId xmlns:p14="http://schemas.microsoft.com/office/powerpoint/2010/main" val="1729656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2EB80-CDB1-6395-06E2-D1E0F4237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6AF61-0084-9777-A243-BB983D3AC94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Work Done So Far…</a:t>
            </a:r>
            <a:endParaRPr lang="en-IN"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6FD412-C737-80C5-E4D9-60A9B775E6DA}"/>
                  </a:ext>
                </a:extLst>
              </p:cNvPr>
              <p:cNvSpPr>
                <a:spLocks noGrp="1"/>
              </p:cNvSpPr>
              <p:nvPr>
                <p:ph idx="1"/>
              </p:nvPr>
            </p:nvSpPr>
            <p:spPr>
              <a:xfrm>
                <a:off x="838200" y="1483981"/>
                <a:ext cx="10515600" cy="4351338"/>
              </a:xfrm>
            </p:spPr>
            <p:txBody>
              <a:bodyPr vert="horz" lIns="91440" tIns="45720" rIns="91440" bIns="45720" rtlCol="0" anchor="t">
                <a:normAutofit/>
              </a:bodyPr>
              <a:lstStyle/>
              <a:p>
                <a:pPr lvl="0"/>
                <a:r>
                  <a:rPr lang="en-IN" sz="1800" dirty="0"/>
                  <a:t>Bit-True Fixed-Point Model: Replaced floating-point operations with Q24 fixed-point arithmetic and implemented custom </a:t>
                </a:r>
                <a:r>
                  <a:rPr lang="en-IN" sz="1800" dirty="0" err="1"/>
                  <a:t>q_mul</a:t>
                </a:r>
                <a:r>
                  <a:rPr lang="en-IN" sz="1800" dirty="0"/>
                  <a:t> and </a:t>
                </a:r>
                <a:r>
                  <a:rPr lang="en-IN" sz="1800" dirty="0" err="1"/>
                  <a:t>q_div</a:t>
                </a:r>
                <a:r>
                  <a:rPr lang="en-IN" sz="1800" dirty="0"/>
                  <a:t> operations to replicate hardware </a:t>
                </a:r>
                <a:r>
                  <a:rPr lang="en-IN" sz="1800" dirty="0" err="1"/>
                  <a:t>behavior</a:t>
                </a:r>
                <a:r>
                  <a:rPr lang="en-IN" sz="1800" dirty="0"/>
                  <a:t>. </a:t>
                </a:r>
              </a:p>
              <a:p>
                <a:pPr lvl="0"/>
                <a:r>
                  <a:rPr lang="en-IN" sz="1800" dirty="0"/>
                  <a:t>Hardware-Friendly Trigonometry: Implemented 24-iteration CORDIC algorithms for sin, cos, and atan2, replacing computationally expensive trigonometric functions with shift-and-add operations. </a:t>
                </a:r>
              </a:p>
              <a:p>
                <a:pPr lvl="0"/>
                <a:r>
                  <a:rPr lang="en-IN" sz="1800" dirty="0"/>
                  <a:t>Macleod Quartic Engine: Developed the 4th-order polynomial generation using the peak FFT bin and its adjacent bins, including complex-ratio calculation and generation of coefficients </a:t>
                </a: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𝑄</m:t>
                        </m:r>
                      </m:e>
                      <m:sub>
                        <m:r>
                          <a:rPr lang="en-IN" sz="1800" b="0" smtClean="0">
                            <a:latin typeface="Cambria Math" panose="02040503050406030204" pitchFamily="18" charset="0"/>
                          </a:rPr>
                          <m:t>4</m:t>
                        </m:r>
                      </m:sub>
                    </m:sSub>
                    <m:r>
                      <a:rPr lang="en-IN" sz="1800" b="0" smtClean="0">
                        <a:latin typeface="Cambria Math" panose="02040503050406030204" pitchFamily="18" charset="0"/>
                      </a:rPr>
                      <m:t>,</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𝑄</m:t>
                        </m:r>
                      </m:e>
                      <m:sub>
                        <m:r>
                          <a:rPr lang="en-IN" sz="1800" b="0" smtClean="0">
                            <a:latin typeface="Cambria Math" panose="02040503050406030204" pitchFamily="18" charset="0"/>
                          </a:rPr>
                          <m:t>3</m:t>
                        </m:r>
                      </m:sub>
                    </m:sSub>
                    <m:r>
                      <a:rPr lang="en-IN" sz="1800" b="0" smtClean="0">
                        <a:latin typeface="Cambria Math" panose="02040503050406030204" pitchFamily="18" charset="0"/>
                      </a:rPr>
                      <m:t>,</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𝑄</m:t>
                        </m:r>
                      </m:e>
                      <m:sub>
                        <m:r>
                          <a:rPr lang="en-IN" sz="1800" b="0" smtClean="0">
                            <a:latin typeface="Cambria Math" panose="02040503050406030204" pitchFamily="18" charset="0"/>
                          </a:rPr>
                          <m:t>2</m:t>
                        </m:r>
                      </m:sub>
                    </m:sSub>
                    <m:r>
                      <a:rPr lang="en-IN" sz="1800" b="0" smtClean="0">
                        <a:latin typeface="Cambria Math" panose="02040503050406030204" pitchFamily="18" charset="0"/>
                      </a:rPr>
                      <m:t>,</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𝑄</m:t>
                        </m:r>
                      </m:e>
                      <m:sub>
                        <m:r>
                          <a:rPr lang="en-IN" sz="1800" b="0" smtClean="0">
                            <a:latin typeface="Cambria Math" panose="02040503050406030204" pitchFamily="18" charset="0"/>
                          </a:rPr>
                          <m:t>1</m:t>
                        </m:r>
                      </m:sub>
                    </m:sSub>
                    <m:r>
                      <a:rPr lang="en-IN" sz="1800" b="0" smtClean="0">
                        <a:latin typeface="Cambria Math" panose="02040503050406030204" pitchFamily="18" charset="0"/>
                      </a:rPr>
                      <m:t>,</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𝑄</m:t>
                        </m:r>
                      </m:e>
                      <m:sub>
                        <m:r>
                          <a:rPr lang="en-IN" sz="1800" b="0" smtClean="0">
                            <a:latin typeface="Cambria Math" panose="02040503050406030204" pitchFamily="18" charset="0"/>
                          </a:rPr>
                          <m:t>0</m:t>
                        </m:r>
                      </m:sub>
                    </m:sSub>
                  </m:oMath>
                </a14:m>
                <a:r>
                  <a:rPr lang="en-IN" sz="1800" dirty="0"/>
                  <a:t>. </a:t>
                </a:r>
              </a:p>
              <a:p>
                <a:pPr lvl="0"/>
                <a:r>
                  <a:rPr lang="en-IN" sz="1800" dirty="0"/>
                  <a:t>Newton-Raphson Hardware Solver: Implemented a 3-iteration Newton-Raphson solver using Horner's method for efficient quartic polynomial root estimation. </a:t>
                </a:r>
              </a:p>
              <a:p>
                <a:pPr lvl="0"/>
                <a:r>
                  <a:rPr lang="en-IN" sz="1800" dirty="0"/>
                  <a:t>Noise Robustness: Added a parabolic initial seed and a dynamic Newton Clamp to prevent unstable frequency estimates under high-noise conditions. </a:t>
                </a:r>
              </a:p>
              <a:p>
                <a:pPr lvl="0"/>
                <a:r>
                  <a:rPr lang="en-IN" sz="1800" dirty="0"/>
                  <a:t>Verification &amp; Debugging: Developed a bit-true C reference model and compared it cycle-by-cycle with Verilog RTL. Identified and corrected a frequency scaling error, achieving bit-true verification.</a:t>
                </a:r>
              </a:p>
            </p:txBody>
          </p:sp>
        </mc:Choice>
        <mc:Fallback>
          <p:sp>
            <p:nvSpPr>
              <p:cNvPr id="3" name="Content Placeholder 2">
                <a:extLst>
                  <a:ext uri="{FF2B5EF4-FFF2-40B4-BE49-F238E27FC236}">
                    <a16:creationId xmlns:a16="http://schemas.microsoft.com/office/drawing/2014/main" id="{166FD412-C737-80C5-E4D9-60A9B775E6DA}"/>
                  </a:ext>
                </a:extLst>
              </p:cNvPr>
              <p:cNvSpPr>
                <a:spLocks noGrp="1" noRot="1" noChangeAspect="1" noMove="1" noResize="1" noEditPoints="1" noAdjustHandles="1" noChangeArrowheads="1" noChangeShapeType="1" noTextEdit="1"/>
              </p:cNvSpPr>
              <p:nvPr>
                <p:ph idx="1"/>
              </p:nvPr>
            </p:nvSpPr>
            <p:spPr>
              <a:xfrm>
                <a:off x="838200" y="1483981"/>
                <a:ext cx="10515600" cy="4351338"/>
              </a:xfrm>
              <a:blipFill>
                <a:blip r:embed="rId2"/>
                <a:stretch>
                  <a:fillRect l="-406" t="-1261"/>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BB55D6DC-1C54-9D92-3D64-90BAD55CB155}"/>
              </a:ext>
            </a:extLst>
          </p:cNvPr>
          <p:cNvSpPr>
            <a:spLocks noGrp="1"/>
          </p:cNvSpPr>
          <p:nvPr>
            <p:ph type="dt" sz="half" idx="10"/>
          </p:nvPr>
        </p:nvSpPr>
        <p:spPr/>
        <p:txBody>
          <a:bodyPr/>
          <a:lstStyle/>
          <a:p>
            <a:fld id="{6E83D928-BDD7-4354-9A29-8AD08345FC2F}" type="datetime1">
              <a:rPr lang="en-IN" smtClean="0"/>
              <a:t>31-08-2026</a:t>
            </a:fld>
            <a:endParaRPr lang="en-IN" dirty="0"/>
          </a:p>
        </p:txBody>
      </p:sp>
      <p:sp>
        <p:nvSpPr>
          <p:cNvPr id="5" name="Slide Number Placeholder 4">
            <a:extLst>
              <a:ext uri="{FF2B5EF4-FFF2-40B4-BE49-F238E27FC236}">
                <a16:creationId xmlns:a16="http://schemas.microsoft.com/office/drawing/2014/main" id="{732AF4B0-5669-17A5-0652-EC66371896AB}"/>
              </a:ext>
            </a:extLst>
          </p:cNvPr>
          <p:cNvSpPr>
            <a:spLocks noGrp="1"/>
          </p:cNvSpPr>
          <p:nvPr>
            <p:ph type="sldNum" sz="quarter" idx="12"/>
          </p:nvPr>
        </p:nvSpPr>
        <p:spPr/>
        <p:txBody>
          <a:bodyPr/>
          <a:lstStyle/>
          <a:p>
            <a:fld id="{C0898A6D-CD5C-4802-925B-E5FD8D219589}" type="slidenum">
              <a:rPr lang="en-IN" smtClean="0"/>
              <a:t>13</a:t>
            </a:fld>
            <a:endParaRPr lang="en-IN" dirty="0"/>
          </a:p>
        </p:txBody>
      </p:sp>
    </p:spTree>
    <p:extLst>
      <p:ext uri="{BB962C8B-B14F-4D97-AF65-F5344CB8AC3E}">
        <p14:creationId xmlns:p14="http://schemas.microsoft.com/office/powerpoint/2010/main" val="134557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AE967-E666-6627-C3BA-860A8F3FC781}"/>
              </a:ext>
            </a:extLst>
          </p:cNvPr>
          <p:cNvSpPr>
            <a:spLocks noGrp="1"/>
          </p:cNvSpPr>
          <p:nvPr>
            <p:ph type="title"/>
          </p:nvPr>
        </p:nvSpPr>
        <p:spPr>
          <a:xfrm>
            <a:off x="772886" y="136525"/>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REFERENCES</a:t>
            </a:r>
            <a:endParaRPr lang="en-IN" sz="4000" dirty="0"/>
          </a:p>
        </p:txBody>
      </p:sp>
      <p:sp>
        <p:nvSpPr>
          <p:cNvPr id="3" name="Content Placeholder 2">
            <a:extLst>
              <a:ext uri="{FF2B5EF4-FFF2-40B4-BE49-F238E27FC236}">
                <a16:creationId xmlns:a16="http://schemas.microsoft.com/office/drawing/2014/main" id="{E6D22F16-1800-BF5C-68C8-6F79A83B1EF7}"/>
              </a:ext>
            </a:extLst>
          </p:cNvPr>
          <p:cNvSpPr>
            <a:spLocks noGrp="1"/>
          </p:cNvSpPr>
          <p:nvPr>
            <p:ph idx="1"/>
          </p:nvPr>
        </p:nvSpPr>
        <p:spPr>
          <a:xfrm>
            <a:off x="772886" y="1454912"/>
            <a:ext cx="11042276" cy="4351338"/>
          </a:xfrm>
        </p:spPr>
        <p:txBody>
          <a:bodyPr vert="horz" lIns="91440" tIns="45720" rIns="91440" bIns="45720" rtlCol="0" anchor="t">
            <a:noAutofit/>
          </a:bodyPr>
          <a:lstStyle/>
          <a:p>
            <a:pPr lvl="0"/>
            <a:r>
              <a:rPr lang="en-IN" sz="1600" dirty="0"/>
              <a:t>G. Narayanan and D. G. Kurup, “A Quartic Polynomial Based Approach for Multi-Sinusoidal Frequency Estimation,” </a:t>
            </a:r>
            <a:r>
              <a:rPr lang="en-IN" sz="1600" i="1" dirty="0"/>
              <a:t>International Journal of Electrical and Electronic Engineering &amp; Telecommunications</a:t>
            </a:r>
            <a:r>
              <a:rPr lang="en-IN" sz="1600" dirty="0"/>
              <a:t>, 2024. </a:t>
            </a:r>
          </a:p>
          <a:p>
            <a:pPr lvl="0"/>
            <a:r>
              <a:rPr lang="en-IN" sz="1600" dirty="0"/>
              <a:t>R. </a:t>
            </a:r>
            <a:r>
              <a:rPr lang="en-IN" sz="1600" dirty="0" err="1"/>
              <a:t>Palisetty</a:t>
            </a:r>
            <a:r>
              <a:rPr lang="en-IN" sz="1600" dirty="0"/>
              <a:t> et al., “FPGA Implementation of Efficient 2D-FFT Beamforming for On-Board Processing in Satellites,” </a:t>
            </a:r>
            <a:r>
              <a:rPr lang="en-IN" sz="1600" i="1" dirty="0"/>
              <a:t>IEEE VTC-Fall</a:t>
            </a:r>
            <a:r>
              <a:rPr lang="en-IN" sz="1600" dirty="0"/>
              <a:t>, 2023. </a:t>
            </a:r>
          </a:p>
          <a:p>
            <a:pPr lvl="0"/>
            <a:r>
              <a:rPr lang="en-IN" sz="1600" dirty="0"/>
              <a:t>H.-Y. Chin, P.-Y. Tsai, and S.-Y. Lee, “Implementation of a Two-Dimensional FFT/IFFT Processor for Real-Time High-Resolution Synthetic Aperture Radar Imaging,” </a:t>
            </a:r>
            <a:r>
              <a:rPr lang="en-IN" sz="1600" i="1" dirty="0"/>
              <a:t>IEEE </a:t>
            </a:r>
            <a:r>
              <a:rPr lang="en-IN" sz="1600" i="1" dirty="0" err="1"/>
              <a:t>SiPS</a:t>
            </a:r>
            <a:r>
              <a:rPr lang="en-IN" sz="1600" dirty="0"/>
              <a:t>, 2021. </a:t>
            </a:r>
          </a:p>
          <a:p>
            <a:pPr lvl="0"/>
            <a:r>
              <a:rPr lang="en-IN" sz="1600" dirty="0"/>
              <a:t>J. S. Kim et al., “FPGA Architecture for 2D Discrete Fourier Transform Based on 2D Decomposition for Large-Sized Data,” </a:t>
            </a:r>
            <a:r>
              <a:rPr lang="en-IN" sz="1600" i="1" dirty="0"/>
              <a:t>IEEE </a:t>
            </a:r>
            <a:r>
              <a:rPr lang="en-IN" sz="1600" i="1" dirty="0" err="1"/>
              <a:t>SiPS</a:t>
            </a:r>
            <a:r>
              <a:rPr lang="en-IN" sz="1600" dirty="0"/>
              <a:t>, 2009.</a:t>
            </a:r>
          </a:p>
          <a:p>
            <a:pPr marL="0" indent="0" algn="just">
              <a:buNone/>
            </a:pPr>
            <a:endParaRPr lang="en-IN" sz="1600" dirty="0">
              <a:ea typeface="Calibri"/>
              <a:cs typeface="Calibri"/>
            </a:endParaRPr>
          </a:p>
        </p:txBody>
      </p:sp>
      <p:sp>
        <p:nvSpPr>
          <p:cNvPr id="4" name="Slide Number Placeholder 3">
            <a:extLst>
              <a:ext uri="{FF2B5EF4-FFF2-40B4-BE49-F238E27FC236}">
                <a16:creationId xmlns:a16="http://schemas.microsoft.com/office/drawing/2014/main" id="{24F10102-1AE7-774C-CFA7-7659BAB59712}"/>
              </a:ext>
            </a:extLst>
          </p:cNvPr>
          <p:cNvSpPr>
            <a:spLocks noGrp="1"/>
          </p:cNvSpPr>
          <p:nvPr>
            <p:ph type="sldNum" sz="quarter" idx="12"/>
          </p:nvPr>
        </p:nvSpPr>
        <p:spPr/>
        <p:txBody>
          <a:bodyPr/>
          <a:lstStyle/>
          <a:p>
            <a:fld id="{C0898A6D-CD5C-4802-925B-E5FD8D219589}" type="slidenum">
              <a:rPr lang="en-IN" smtClean="0"/>
              <a:t>14</a:t>
            </a:fld>
            <a:endParaRPr lang="en-IN" dirty="0"/>
          </a:p>
        </p:txBody>
      </p:sp>
    </p:spTree>
    <p:extLst>
      <p:ext uri="{BB962C8B-B14F-4D97-AF65-F5344CB8AC3E}">
        <p14:creationId xmlns:p14="http://schemas.microsoft.com/office/powerpoint/2010/main" val="31632648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5948</TotalTime>
  <Words>1924</Words>
  <Application>Microsoft Office PowerPoint</Application>
  <PresentationFormat>Widescreen</PresentationFormat>
  <Paragraphs>191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 Math</vt:lpstr>
      <vt:lpstr>Georgia</vt:lpstr>
      <vt:lpstr>Times New Roman</vt:lpstr>
      <vt:lpstr>Office Theme</vt:lpstr>
      <vt:lpstr>PowerPoint Presentation</vt:lpstr>
      <vt:lpstr>INTRODUCTION</vt:lpstr>
      <vt:lpstr>MOTIVATION</vt:lpstr>
      <vt:lpstr>Sub-Objective</vt:lpstr>
      <vt:lpstr> LITERATURE SURVEY</vt:lpstr>
      <vt:lpstr> LITERATURE SURVEY</vt:lpstr>
      <vt:lpstr> LITERATURE SURVEY</vt:lpstr>
      <vt:lpstr> LITERATURE SURVEY</vt:lpstr>
      <vt:lpstr>PowerPoint Presentation</vt:lpstr>
      <vt:lpstr>Problem Statement</vt:lpstr>
      <vt:lpstr>Proposed Architecture Blocks:</vt:lpstr>
      <vt:lpstr>TIMELINE</vt:lpstr>
      <vt:lpstr>Work Done So Far…</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SURVEY</dc:title>
  <dc:creator>Venkata Sai Vivek Potnuru</dc:creator>
  <cp:lastModifiedBy>Dheeraj Reddy.B-[BL.EN.U4ECE23112]</cp:lastModifiedBy>
  <cp:revision>431</cp:revision>
  <dcterms:created xsi:type="dcterms:W3CDTF">2021-11-03T05:08:25Z</dcterms:created>
  <dcterms:modified xsi:type="dcterms:W3CDTF">2026-08-31T08:39:07Z</dcterms:modified>
</cp:coreProperties>
</file>